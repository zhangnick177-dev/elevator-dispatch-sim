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3B9245-38EC-4073-9233-2828BAC2ED94}" v="1" dt="2026-08-08T05:59:01.8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1" d="100"/>
          <a:sy n="151" d="100"/>
        </p:scale>
        <p:origin x="2886"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yuan Zhang" userId="064137894740acb9" providerId="LiveId" clId="{C3695805-6C0E-459E-99AA-7F62B4754706}"/>
    <pc:docChg chg="modSld">
      <pc:chgData name="Renyuan Zhang" userId="064137894740acb9" providerId="LiveId" clId="{C3695805-6C0E-459E-99AA-7F62B4754706}" dt="2026-08-08T05:59:18.720" v="34" actId="20577"/>
      <pc:docMkLst>
        <pc:docMk/>
      </pc:docMkLst>
      <pc:sldChg chg="modSp mod">
        <pc:chgData name="Renyuan Zhang" userId="064137894740acb9" providerId="LiveId" clId="{C3695805-6C0E-459E-99AA-7F62B4754706}" dt="2026-08-08T05:59:18.720" v="34" actId="20577"/>
        <pc:sldMkLst>
          <pc:docMk/>
          <pc:sldMk cId="0" sldId="260"/>
        </pc:sldMkLst>
        <pc:spChg chg="mod">
          <ac:chgData name="Renyuan Zhang" userId="064137894740acb9" providerId="LiveId" clId="{C3695805-6C0E-459E-99AA-7F62B4754706}" dt="2026-08-08T05:59:18.720" v="34" actId="20577"/>
          <ac:spMkLst>
            <pc:docMk/>
            <pc:sldMk cId="0" sldId="260"/>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103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break the problem in two. First, model the workload: requests arrive as a Poisson process in discrete time with an origin-destination traffic pattern - that's the generator, and the scheduler never sees the future. Second, the dispatch problem: given that stream, which car serves each request and how does that car sequence its stops. That second problem is an online, capacity-constrained assignment with two axes - dispatch (which car, the high-leverage decision, five policies) and motion (how it moves, fixed at LOOK). Dispatch is where the leverage 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Hexagonal design: a pure core - the domain model (models.py: Request, Passenger, Elevator), the engine, the policies, and metrics - that only maps a trace to metrics, surrounded by swappable adapters. The two-axis scheduler plugs in through interfaces. This is why Phase 2 can redirect outputs to a database without touching the simulation.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dispatch policies form a ladder of increasing information. Round-robin uses nothing; nearest-car adds position and direction; zone-based adds geography; cost-function adds load and route-ETA; Hungarian solves the whole batch optimally as a benchmark. All balance against each car's committed backlog.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Motion is the low-leverage axis, so I fix it at LOOK, the classic elevator sweep: efficient and starvation-free. FCFS is the thrashing baseline that shows why smart motion matters, but I don't vary it; the leverage is all in dispatch.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config models a real office building - 16 cars, 25 floors - in a morning up-peak, with lambda tuned so cars run busy but not saturated. The simplifications are deliberate and defensible; each is something I could relax. These settings produce the numbers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traffic patterns, same building and same arrival rate - only the origin and destination distributions change. Up-peak: everyone enters at the lobby and rides up (morning). Down-peak: everyone rides down to the lobby (evening). Uniform: random floor to floor, the midday interfloor case. This is the key to the results: when all pickups are at the lobby (up-peak), position can't tell cars apart; when pickups are spread (down-peak, uniform), position-aware dispatch wins.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models.py defines the domain nouns as pure data. Request is the immutable input row. Passenger wraps a Request and adds the mutable lifecycle stamps plus derived timing. Elevator is a car's runtime state including its onboard list and target floors. Enums label direction and states. All behaviour lives elsewhere - these types never advance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engine is a plain while-loop. Each tick runs six steps: log positions, admit new arrivals, dispatch them to cars, service the current floor (alight then board), move each car one floor, then advance and check termination. Two subtle choices: service happens before move, and each car's targets are re-derived fresh every tick from its committed passengers. Steps 3 and 5 are where the dispatch and motion policies are called.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metrics fall into three groups, all computed in metrics.py from the finished run. Per-passenger TIME: wait, travel, total (min/max/avg; wait also carries p90/p95 as the fairness tail). Fleet EFFICIENCY: total distance travelled, stops made, utilization rho (fraction of time cars are busy), and throughput. POOLING: distance per passenger (lower is better) and passengers per stop (higher is better). The example shows round-robin's signature - high utilization but ~1 passenger per stop, so busy but not pooling.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there is no universal best policy. When every pickup is at the lobby (up-peak), position can't distinguish cars and round-robin's blind even-spread is near-optimal. When pickups are spread (down-peak, interfloor), cost-function and Hungarian win by up to 3x on wait. Zone-based fragments the fleet. Two real bugs were caught by testing.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Total time is the objective (wait+travel). Averaged over 100 seeds the single-trace finding holds: round-robin wins up-peak, cost-function wins down-peak, cost-fn and Hungarian tie on uniform. The max row shows the smart policies' worst case is 2-3x better on the spread patterns.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Wait is where the policies separate. On the spread-pickup patterns the position-aware policies cut the p90 fairness tail by up to 10x versus zone-based. On up-peak, where all pickups are at the lobby, round-robin wins even the tail.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Travel time is a flat, low-leverage axis: once a passenger is onboard, LOOK handles the stop order regardless of dispatch, so avg travel barely moves across policies. That's why the policy differences all live in wait. The one exception is FCFS motion, whose worst-case onboard ride on uniform is far longer because it thrashes.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Efficiency reinforces the objective from the supply side. The policies that win on time are the ones that keep utilization high. Nearest-car and zone leave cars parked, which is exactly why they lose. Low total distance is a trap - it means idle cars, not efficiency. Utilization is left unmarked because very high rho can mean near the congestion cliff.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Pooling repeats the cautionary pattern. Zone-based looks like the best pooler - lowest distance per passenger, highest passengers per stop - but only because it concentrates riders into fewer cars while the rest of the fleet idles. Pooling metrics must be read alongside utilization, or they reward exactly the fragmentation that hurts wait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Head-to-head of the two regime winners, now with the full metric table per pattern. For all three patterns the round-robin vs cost-function total gap is almost entirely wait. The bottom table explains the mechanism through utilization: on up-peak cost-function idles cars (rho 0.76) because every pickup is at the lobby, so it loses; on down-peak and uniform it holds high utilization and pools better, so it wins. Throughput and travel are a wash.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steps: re-dispatch is the big one - it activates aging and fixes peak under-utilization. Adaptive batching mimics real up-peak modes. Weight tuning per pattern. The 100-seed replicated grid is already done (previous five slides); the remaining statistical work is error bars / confidence intervals and a lambda-sweep to expose the congestion cliff.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10058400" cy="365760"/>
          </a:xfrm>
          <a:prstGeom prst="rect">
            <a:avLst/>
          </a:prstGeom>
          <a:noFill/>
        </p:spPr>
        <p:txBody>
          <a:bodyPr wrap="square" lIns="38100" tIns="25400" rIns="38100" bIns="25400">
            <a:spAutoFit/>
          </a:bodyPr>
          <a:lstStyle/>
          <a:p>
            <a:r>
              <a:rPr sz="1300" b="1" i="0">
                <a:solidFill>
                  <a:srgbClr val="CADCFC"/>
                </a:solidFill>
                <a:latin typeface="Calibri"/>
              </a:rPr>
              <a:t>ELEVATOR DISPATCH SIMULATION</a:t>
            </a:r>
          </a:p>
        </p:txBody>
      </p:sp>
      <p:sp>
        <p:nvSpPr>
          <p:cNvPr id="3" name="TextBox 2"/>
          <p:cNvSpPr txBox="1"/>
          <p:nvPr/>
        </p:nvSpPr>
        <p:spPr>
          <a:xfrm>
            <a:off x="640080" y="896112"/>
            <a:ext cx="11155680" cy="868680"/>
          </a:xfrm>
          <a:prstGeom prst="rect">
            <a:avLst/>
          </a:prstGeom>
          <a:noFill/>
        </p:spPr>
        <p:txBody>
          <a:bodyPr wrap="square" lIns="38100" tIns="25400" rIns="38100" bIns="25400">
            <a:spAutoFit/>
          </a:bodyPr>
          <a:lstStyle/>
          <a:p>
            <a:r>
              <a:rPr sz="3300" b="1" i="0">
                <a:solidFill>
                  <a:srgbClr val="FFFFFF"/>
                </a:solidFill>
                <a:latin typeface="Cambria"/>
              </a:rPr>
              <a:t>Two problems: model the demand, then dispatch it</a:t>
            </a:r>
          </a:p>
        </p:txBody>
      </p:sp>
      <p:sp>
        <p:nvSpPr>
          <p:cNvPr id="4" name="TextBox 3"/>
          <p:cNvSpPr txBox="1"/>
          <p:nvPr/>
        </p:nvSpPr>
        <p:spPr>
          <a:xfrm>
            <a:off x="640080" y="1810512"/>
            <a:ext cx="10881360" cy="411480"/>
          </a:xfrm>
          <a:prstGeom prst="rect">
            <a:avLst/>
          </a:prstGeom>
          <a:noFill/>
        </p:spPr>
        <p:txBody>
          <a:bodyPr wrap="square" lIns="38100" tIns="25400" rIns="38100" bIns="25400">
            <a:spAutoFit/>
          </a:bodyPr>
          <a:lstStyle/>
          <a:p>
            <a:r>
              <a:rPr sz="1600" b="0" i="1">
                <a:solidFill>
                  <a:srgbClr val="CADCFC"/>
                </a:solidFill>
                <a:latin typeface="Calibri"/>
              </a:rPr>
              <a:t>First generate a realistic stream of requests — then decide which car serves each one.</a:t>
            </a:r>
          </a:p>
        </p:txBody>
      </p:sp>
      <p:sp>
        <p:nvSpPr>
          <p:cNvPr id="5" name="Rounded Rectangle 4"/>
          <p:cNvSpPr/>
          <p:nvPr/>
        </p:nvSpPr>
        <p:spPr>
          <a:xfrm>
            <a:off x="640080" y="2331720"/>
            <a:ext cx="5257800" cy="2331720"/>
          </a:xfrm>
          <a:prstGeom prst="roundRect">
            <a:avLst>
              <a:gd name="adj" fmla="val 5000"/>
            </a:avLst>
          </a:prstGeom>
          <a:solidFill>
            <a:srgbClr val="26315C"/>
          </a:solidFill>
          <a:ln w="19050">
            <a:solidFill>
              <a:srgbClr val="2E9E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914400" y="2560320"/>
            <a:ext cx="548640" cy="548640"/>
          </a:xfrm>
          <a:prstGeom prst="roundRect">
            <a:avLst>
              <a:gd name="adj" fmla="val 12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14400" y="2560320"/>
            <a:ext cx="548640" cy="548640"/>
          </a:xfrm>
          <a:prstGeom prst="rect">
            <a:avLst/>
          </a:prstGeom>
          <a:noFill/>
        </p:spPr>
        <p:txBody>
          <a:bodyPr wrap="square" lIns="38100" tIns="25400" rIns="38100" bIns="25400" anchor="ctr">
            <a:spAutoFit/>
          </a:bodyPr>
          <a:lstStyle/>
          <a:p>
            <a:pPr algn="ctr"/>
            <a:r>
              <a:rPr sz="2200" b="1" i="0">
                <a:solidFill>
                  <a:srgbClr val="1E2761"/>
                </a:solidFill>
                <a:latin typeface="Cambria"/>
              </a:rPr>
              <a:t>1</a:t>
            </a:r>
          </a:p>
        </p:txBody>
      </p:sp>
      <p:sp>
        <p:nvSpPr>
          <p:cNvPr id="8" name="TextBox 7"/>
          <p:cNvSpPr txBox="1"/>
          <p:nvPr/>
        </p:nvSpPr>
        <p:spPr>
          <a:xfrm>
            <a:off x="1600200" y="2615184"/>
            <a:ext cx="4114800" cy="457200"/>
          </a:xfrm>
          <a:prstGeom prst="rect">
            <a:avLst/>
          </a:prstGeom>
          <a:noFill/>
        </p:spPr>
        <p:txBody>
          <a:bodyPr wrap="square" lIns="38100" tIns="25400" rIns="38100" bIns="25400" anchor="ctr">
            <a:spAutoFit/>
          </a:bodyPr>
          <a:lstStyle/>
          <a:p>
            <a:r>
              <a:rPr sz="1450" b="1" i="0">
                <a:solidFill>
                  <a:srgbClr val="2E9E8F"/>
                </a:solidFill>
                <a:latin typeface="Calibri"/>
              </a:rPr>
              <a:t>MODEL THE WORKLOAD</a:t>
            </a:r>
          </a:p>
        </p:txBody>
      </p:sp>
      <p:sp>
        <p:nvSpPr>
          <p:cNvPr id="9" name="TextBox 8"/>
          <p:cNvSpPr txBox="1"/>
          <p:nvPr/>
        </p:nvSpPr>
        <p:spPr>
          <a:xfrm>
            <a:off x="914400" y="3246120"/>
            <a:ext cx="4709160" cy="457200"/>
          </a:xfrm>
          <a:prstGeom prst="rect">
            <a:avLst/>
          </a:prstGeom>
          <a:noFill/>
        </p:spPr>
        <p:txBody>
          <a:bodyPr wrap="square" lIns="38100" tIns="25400" rIns="38100" bIns="25400">
            <a:spAutoFit/>
          </a:bodyPr>
          <a:lstStyle/>
          <a:p>
            <a:r>
              <a:rPr sz="1400" b="1" i="0">
                <a:solidFill>
                  <a:srgbClr val="FFFFFF"/>
                </a:solidFill>
                <a:latin typeface="Calibri"/>
              </a:rPr>
              <a:t>How do requests arrive?</a:t>
            </a:r>
          </a:p>
        </p:txBody>
      </p:sp>
      <p:sp>
        <p:nvSpPr>
          <p:cNvPr id="10" name="TextBox 9"/>
          <p:cNvSpPr txBox="1"/>
          <p:nvPr/>
        </p:nvSpPr>
        <p:spPr>
          <a:xfrm>
            <a:off x="914400" y="3703320"/>
            <a:ext cx="4709160" cy="685800"/>
          </a:xfrm>
          <a:prstGeom prst="rect">
            <a:avLst/>
          </a:prstGeom>
          <a:noFill/>
        </p:spPr>
        <p:txBody>
          <a:bodyPr wrap="square" lIns="38100" tIns="25400" rIns="38100" bIns="25400">
            <a:spAutoFit/>
          </a:bodyPr>
          <a:lstStyle/>
          <a:p>
            <a:r>
              <a:rPr sz="1150" b="0" i="0" dirty="0">
                <a:solidFill>
                  <a:srgbClr val="CADCFC"/>
                </a:solidFill>
                <a:latin typeface="Calibri"/>
              </a:rPr>
              <a:t>Poisson(λ) arrivals in discrete time, plus an origin–destination traffic pattern — a synthetic trace, and the scheduler never peeks ahead.</a:t>
            </a:r>
          </a:p>
        </p:txBody>
      </p:sp>
      <p:sp>
        <p:nvSpPr>
          <p:cNvPr id="11" name="TextBox 10"/>
          <p:cNvSpPr txBox="1"/>
          <p:nvPr/>
        </p:nvSpPr>
        <p:spPr>
          <a:xfrm>
            <a:off x="914400" y="4370832"/>
            <a:ext cx="4709160" cy="256032"/>
          </a:xfrm>
          <a:prstGeom prst="rect">
            <a:avLst/>
          </a:prstGeom>
          <a:noFill/>
        </p:spPr>
        <p:txBody>
          <a:bodyPr wrap="square" lIns="38100" tIns="25400" rIns="38100" bIns="25400">
            <a:spAutoFit/>
          </a:bodyPr>
          <a:lstStyle/>
          <a:p>
            <a:r>
              <a:rPr sz="1100" b="0" i="0">
                <a:solidFill>
                  <a:srgbClr val="2E9E8F"/>
                </a:solidFill>
                <a:latin typeface="Courier New"/>
              </a:rPr>
              <a:t>generator.py</a:t>
            </a:r>
          </a:p>
        </p:txBody>
      </p:sp>
      <p:sp>
        <p:nvSpPr>
          <p:cNvPr id="12" name="Rounded Rectangle 11"/>
          <p:cNvSpPr/>
          <p:nvPr/>
        </p:nvSpPr>
        <p:spPr>
          <a:xfrm>
            <a:off x="6263640" y="2331720"/>
            <a:ext cx="5257800" cy="2331720"/>
          </a:xfrm>
          <a:prstGeom prst="roundRect">
            <a:avLst>
              <a:gd name="adj" fmla="val 5000"/>
            </a:avLst>
          </a:prstGeom>
          <a:solidFill>
            <a:srgbClr val="26315C"/>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6537960" y="2560320"/>
            <a:ext cx="548640" cy="548640"/>
          </a:xfrm>
          <a:prstGeom prst="roundRect">
            <a:avLst>
              <a:gd name="adj" fmla="val 12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37960" y="2560320"/>
            <a:ext cx="548640" cy="548640"/>
          </a:xfrm>
          <a:prstGeom prst="rect">
            <a:avLst/>
          </a:prstGeom>
          <a:noFill/>
        </p:spPr>
        <p:txBody>
          <a:bodyPr wrap="square" lIns="38100" tIns="25400" rIns="38100" bIns="25400" anchor="ctr">
            <a:spAutoFit/>
          </a:bodyPr>
          <a:lstStyle/>
          <a:p>
            <a:pPr algn="ctr"/>
            <a:r>
              <a:rPr sz="2200" b="1" i="0">
                <a:solidFill>
                  <a:srgbClr val="1E2761"/>
                </a:solidFill>
                <a:latin typeface="Cambria"/>
              </a:rPr>
              <a:t>2</a:t>
            </a:r>
          </a:p>
        </p:txBody>
      </p:sp>
      <p:sp>
        <p:nvSpPr>
          <p:cNvPr id="15" name="TextBox 14"/>
          <p:cNvSpPr txBox="1"/>
          <p:nvPr/>
        </p:nvSpPr>
        <p:spPr>
          <a:xfrm>
            <a:off x="7223760" y="2615184"/>
            <a:ext cx="4114800" cy="457200"/>
          </a:xfrm>
          <a:prstGeom prst="rect">
            <a:avLst/>
          </a:prstGeom>
          <a:noFill/>
        </p:spPr>
        <p:txBody>
          <a:bodyPr wrap="square" lIns="38100" tIns="25400" rIns="38100" bIns="25400" anchor="ctr">
            <a:spAutoFit/>
          </a:bodyPr>
          <a:lstStyle/>
          <a:p>
            <a:r>
              <a:rPr sz="1450" b="1" i="0">
                <a:solidFill>
                  <a:srgbClr val="F5A623"/>
                </a:solidFill>
                <a:latin typeface="Calibri"/>
              </a:rPr>
              <a:t>THE DISPATCH PROBLEM</a:t>
            </a:r>
          </a:p>
        </p:txBody>
      </p:sp>
      <p:sp>
        <p:nvSpPr>
          <p:cNvPr id="16" name="TextBox 15"/>
          <p:cNvSpPr txBox="1"/>
          <p:nvPr/>
        </p:nvSpPr>
        <p:spPr>
          <a:xfrm>
            <a:off x="6537960" y="3246120"/>
            <a:ext cx="4709160" cy="457200"/>
          </a:xfrm>
          <a:prstGeom prst="rect">
            <a:avLst/>
          </a:prstGeom>
          <a:noFill/>
        </p:spPr>
        <p:txBody>
          <a:bodyPr wrap="square" lIns="38100" tIns="25400" rIns="38100" bIns="25400">
            <a:spAutoFit/>
          </a:bodyPr>
          <a:lstStyle/>
          <a:p>
            <a:r>
              <a:rPr sz="1400" b="1" i="0">
                <a:solidFill>
                  <a:srgbClr val="FFFFFF"/>
                </a:solidFill>
                <a:latin typeface="Calibri"/>
              </a:rPr>
              <a:t>Which car serves each request — and how does it move?</a:t>
            </a:r>
          </a:p>
        </p:txBody>
      </p:sp>
      <p:sp>
        <p:nvSpPr>
          <p:cNvPr id="17" name="TextBox 16"/>
          <p:cNvSpPr txBox="1"/>
          <p:nvPr/>
        </p:nvSpPr>
        <p:spPr>
          <a:xfrm>
            <a:off x="6537960" y="3703320"/>
            <a:ext cx="4709160" cy="685800"/>
          </a:xfrm>
          <a:prstGeom prst="rect">
            <a:avLst/>
          </a:prstGeom>
          <a:noFill/>
        </p:spPr>
        <p:txBody>
          <a:bodyPr wrap="square" lIns="38100" tIns="25400" rIns="38100" bIns="25400">
            <a:spAutoFit/>
          </a:bodyPr>
          <a:lstStyle/>
          <a:p>
            <a:r>
              <a:rPr sz="1150" b="0" i="0">
                <a:solidFill>
                  <a:srgbClr val="CADCFC"/>
                </a:solidFill>
                <a:latin typeface="Calibri"/>
              </a:rPr>
              <a:t>An online, capacity-constrained assignment. Two axes: dispatch (which car — 5 policies) and motion (how it sequences stops — LOOK).</a:t>
            </a:r>
          </a:p>
        </p:txBody>
      </p:sp>
      <p:sp>
        <p:nvSpPr>
          <p:cNvPr id="18" name="TextBox 17"/>
          <p:cNvSpPr txBox="1"/>
          <p:nvPr/>
        </p:nvSpPr>
        <p:spPr>
          <a:xfrm>
            <a:off x="6537960" y="4370832"/>
            <a:ext cx="4709160" cy="256032"/>
          </a:xfrm>
          <a:prstGeom prst="rect">
            <a:avLst/>
          </a:prstGeom>
          <a:noFill/>
        </p:spPr>
        <p:txBody>
          <a:bodyPr wrap="square" lIns="38100" tIns="25400" rIns="38100" bIns="25400">
            <a:spAutoFit/>
          </a:bodyPr>
          <a:lstStyle/>
          <a:p>
            <a:r>
              <a:rPr sz="1100" b="0" i="0">
                <a:solidFill>
                  <a:srgbClr val="F5A623"/>
                </a:solidFill>
                <a:latin typeface="Courier New"/>
              </a:rPr>
              <a:t>dispatch/  ·  motion/</a:t>
            </a:r>
          </a:p>
        </p:txBody>
      </p:sp>
      <p:sp>
        <p:nvSpPr>
          <p:cNvPr id="19" name="Rounded Rectangle 18"/>
          <p:cNvSpPr/>
          <p:nvPr/>
        </p:nvSpPr>
        <p:spPr>
          <a:xfrm>
            <a:off x="640080" y="4937760"/>
            <a:ext cx="10881360" cy="914400"/>
          </a:xfrm>
          <a:prstGeom prst="roundRect">
            <a:avLst>
              <a:gd name="adj" fmla="val 6000"/>
            </a:avLst>
          </a:prstGeom>
          <a:solidFill>
            <a:srgbClr val="26315C"/>
          </a:solidFill>
          <a:ln w="12700">
            <a:solidFill>
              <a:srgbClr val="3A47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14400" y="4937760"/>
            <a:ext cx="10332720" cy="914400"/>
          </a:xfrm>
          <a:prstGeom prst="rect">
            <a:avLst/>
          </a:prstGeom>
          <a:noFill/>
        </p:spPr>
        <p:txBody>
          <a:bodyPr wrap="square" lIns="38100" tIns="25400" rIns="38100" bIns="25400" anchor="ctr">
            <a:spAutoFit/>
          </a:bodyPr>
          <a:lstStyle/>
          <a:p>
            <a:r>
              <a:rPr sz="1350" b="1" i="0">
                <a:solidFill>
                  <a:srgbClr val="F5A623"/>
                </a:solidFill>
                <a:latin typeface="Calibri"/>
              </a:rPr>
              <a:t>Problem 2 in one line:  </a:t>
            </a:r>
            <a:r>
              <a:rPr sz="1350" b="0" i="0">
                <a:solidFill>
                  <a:srgbClr val="FFFFFF"/>
                </a:solidFill>
                <a:latin typeface="Calibri"/>
              </a:rPr>
              <a:t>an online, capacity-constrained dispatch problem — stateful servers, costly switching, no peek-ahead. Same class as load-balancing requests across a worker pool.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ARCHITECTURE</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A pure, I/O-agnostic core with swappable adapters</a:t>
            </a:r>
          </a:p>
        </p:txBody>
      </p:sp>
      <p:sp>
        <p:nvSpPr>
          <p:cNvPr id="4" name="Rounded Rectangle 3"/>
          <p:cNvSpPr/>
          <p:nvPr/>
        </p:nvSpPr>
        <p:spPr>
          <a:xfrm>
            <a:off x="4480560" y="1965960"/>
            <a:ext cx="3246120" cy="210312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4480560" y="2093976"/>
            <a:ext cx="3246120" cy="320040"/>
          </a:xfrm>
          <a:prstGeom prst="rect">
            <a:avLst/>
          </a:prstGeom>
          <a:noFill/>
        </p:spPr>
        <p:txBody>
          <a:bodyPr wrap="square" lIns="38100" tIns="25400" rIns="38100" bIns="25400">
            <a:spAutoFit/>
          </a:bodyPr>
          <a:lstStyle/>
          <a:p>
            <a:pPr algn="ctr"/>
            <a:r>
              <a:rPr sz="1600" b="1" i="0">
                <a:solidFill>
                  <a:srgbClr val="F5A623"/>
                </a:solidFill>
                <a:latin typeface="Calibri"/>
              </a:rPr>
              <a:t>CORE</a:t>
            </a:r>
          </a:p>
        </p:txBody>
      </p:sp>
      <p:sp>
        <p:nvSpPr>
          <p:cNvPr id="6" name="TextBox 5"/>
          <p:cNvSpPr txBox="1"/>
          <p:nvPr/>
        </p:nvSpPr>
        <p:spPr>
          <a:xfrm>
            <a:off x="4480560" y="2468880"/>
            <a:ext cx="3246120" cy="1554480"/>
          </a:xfrm>
          <a:prstGeom prst="rect">
            <a:avLst/>
          </a:prstGeom>
          <a:noFill/>
        </p:spPr>
        <p:txBody>
          <a:bodyPr wrap="square" lIns="38100" tIns="25400" rIns="38100" bIns="25400">
            <a:spAutoFit/>
          </a:bodyPr>
          <a:lstStyle/>
          <a:p>
            <a:pPr algn="ctr">
              <a:spcAft>
                <a:spcPts val="600"/>
              </a:spcAft>
            </a:pPr>
            <a:r>
              <a:rPr sz="1300" b="0" i="0">
                <a:solidFill>
                  <a:srgbClr val="FFFFFF"/>
                </a:solidFill>
                <a:latin typeface="Courier New"/>
              </a:rPr>
              <a:t>models.py</a:t>
            </a:r>
          </a:p>
          <a:p>
            <a:pPr algn="ctr">
              <a:spcAft>
                <a:spcPts val="600"/>
              </a:spcAft>
            </a:pPr>
            <a:r>
              <a:rPr sz="1300" b="0" i="0">
                <a:solidFill>
                  <a:srgbClr val="FFFFFF"/>
                </a:solidFill>
                <a:latin typeface="Courier New"/>
              </a:rPr>
              <a:t>engine.py</a:t>
            </a:r>
          </a:p>
          <a:p>
            <a:pPr algn="ctr">
              <a:spcAft>
                <a:spcPts val="600"/>
              </a:spcAft>
            </a:pPr>
            <a:r>
              <a:rPr sz="1300" b="0" i="0">
                <a:solidFill>
                  <a:srgbClr val="FFFFFF"/>
                </a:solidFill>
                <a:latin typeface="Courier New"/>
              </a:rPr>
              <a:t>motion/  ·  dispatch/</a:t>
            </a:r>
          </a:p>
          <a:p>
            <a:pPr algn="ctr">
              <a:spcAft>
                <a:spcPts val="600"/>
              </a:spcAft>
            </a:pPr>
            <a:r>
              <a:rPr sz="1300" b="0" i="0">
                <a:solidFill>
                  <a:srgbClr val="FFFFFF"/>
                </a:solidFill>
                <a:latin typeface="Courier New"/>
              </a:rPr>
              <a:t>metrics.py</a:t>
            </a:r>
          </a:p>
        </p:txBody>
      </p:sp>
      <p:sp>
        <p:nvSpPr>
          <p:cNvPr id="7" name="TextBox 6"/>
          <p:cNvSpPr txBox="1"/>
          <p:nvPr/>
        </p:nvSpPr>
        <p:spPr>
          <a:xfrm>
            <a:off x="4251960" y="4123943"/>
            <a:ext cx="3703320" cy="274320"/>
          </a:xfrm>
          <a:prstGeom prst="rect">
            <a:avLst/>
          </a:prstGeom>
          <a:noFill/>
        </p:spPr>
        <p:txBody>
          <a:bodyPr wrap="square" lIns="38100" tIns="25400" rIns="38100" bIns="25400">
            <a:spAutoFit/>
          </a:bodyPr>
          <a:lstStyle/>
          <a:p>
            <a:pPr algn="ctr"/>
            <a:r>
              <a:rPr sz="1100" b="0" i="1">
                <a:solidFill>
                  <a:srgbClr val="6B7280"/>
                </a:solidFill>
                <a:latin typeface="Calibri"/>
              </a:rPr>
              <a:t>input: a trace  →  output: metrics</a:t>
            </a:r>
          </a:p>
        </p:txBody>
      </p:sp>
      <p:sp>
        <p:nvSpPr>
          <p:cNvPr id="8" name="Rounded Rectangle 7"/>
          <p:cNvSpPr/>
          <p:nvPr/>
        </p:nvSpPr>
        <p:spPr>
          <a:xfrm>
            <a:off x="640080" y="1874519"/>
            <a:ext cx="2788920" cy="841248"/>
          </a:xfrm>
          <a:prstGeom prst="roundRect">
            <a:avLst>
              <a:gd name="adj" fmla="val 7000"/>
            </a:avLst>
          </a:prstGeom>
          <a:solidFill>
            <a:srgbClr val="F3F5FB"/>
          </a:solidFill>
          <a:ln w="19050">
            <a:solidFill>
              <a:srgbClr val="2E9E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77240" y="1874519"/>
            <a:ext cx="2560320" cy="841248"/>
          </a:xfrm>
          <a:prstGeom prst="rect">
            <a:avLst/>
          </a:prstGeom>
          <a:noFill/>
        </p:spPr>
        <p:txBody>
          <a:bodyPr wrap="square" lIns="38100" tIns="25400" rIns="38100" bIns="25400" anchor="ctr">
            <a:spAutoFit/>
          </a:bodyPr>
          <a:lstStyle/>
          <a:p>
            <a:r>
              <a:rPr sz="1400" b="1" i="0">
                <a:solidFill>
                  <a:srgbClr val="1F2A44"/>
                </a:solidFill>
                <a:latin typeface="Calibri"/>
              </a:rPr>
              <a:t>Trace loader</a:t>
            </a:r>
          </a:p>
          <a:p>
            <a:r>
              <a:rPr sz="1150" b="0" i="0">
                <a:solidFill>
                  <a:srgbClr val="5B6B86"/>
                </a:solidFill>
                <a:latin typeface="Courier New"/>
              </a:rPr>
              <a:t>trace_loader.py</a:t>
            </a:r>
          </a:p>
        </p:txBody>
      </p:sp>
      <p:sp>
        <p:nvSpPr>
          <p:cNvPr id="10" name="Rounded Rectangle 9"/>
          <p:cNvSpPr/>
          <p:nvPr/>
        </p:nvSpPr>
        <p:spPr>
          <a:xfrm>
            <a:off x="640080" y="3063240"/>
            <a:ext cx="2788920" cy="841248"/>
          </a:xfrm>
          <a:prstGeom prst="roundRect">
            <a:avLst>
              <a:gd name="adj" fmla="val 7000"/>
            </a:avLst>
          </a:prstGeom>
          <a:solidFill>
            <a:srgbClr val="F3F5FB"/>
          </a:solidFill>
          <a:ln w="19050">
            <a:solidFill>
              <a:srgbClr val="2E9E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77240" y="3063240"/>
            <a:ext cx="2560320" cy="841248"/>
          </a:xfrm>
          <a:prstGeom prst="rect">
            <a:avLst/>
          </a:prstGeom>
          <a:noFill/>
        </p:spPr>
        <p:txBody>
          <a:bodyPr wrap="square" lIns="38100" tIns="25400" rIns="38100" bIns="25400" anchor="ctr">
            <a:spAutoFit/>
          </a:bodyPr>
          <a:lstStyle/>
          <a:p>
            <a:r>
              <a:rPr sz="1400" b="1" i="0">
                <a:solidFill>
                  <a:srgbClr val="1F2A44"/>
                </a:solidFill>
                <a:latin typeface="Calibri"/>
              </a:rPr>
              <a:t>Generator</a:t>
            </a:r>
          </a:p>
          <a:p>
            <a:r>
              <a:rPr sz="1150" b="0" i="0">
                <a:solidFill>
                  <a:srgbClr val="5B6B86"/>
                </a:solidFill>
                <a:latin typeface="Courier New"/>
              </a:rPr>
              <a:t>generator.py</a:t>
            </a:r>
          </a:p>
        </p:txBody>
      </p:sp>
      <p:sp>
        <p:nvSpPr>
          <p:cNvPr id="12" name="Rounded Rectangle 11"/>
          <p:cNvSpPr/>
          <p:nvPr/>
        </p:nvSpPr>
        <p:spPr>
          <a:xfrm>
            <a:off x="8759952" y="1874519"/>
            <a:ext cx="2788920" cy="841248"/>
          </a:xfrm>
          <a:prstGeom prst="roundRect">
            <a:avLst>
              <a:gd name="adj" fmla="val 7000"/>
            </a:avLst>
          </a:prstGeom>
          <a:solidFill>
            <a:srgbClr val="F3F5FB"/>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897112" y="1874519"/>
            <a:ext cx="2560320" cy="841248"/>
          </a:xfrm>
          <a:prstGeom prst="rect">
            <a:avLst/>
          </a:prstGeom>
          <a:noFill/>
        </p:spPr>
        <p:txBody>
          <a:bodyPr wrap="square" lIns="38100" tIns="25400" rIns="38100" bIns="25400" anchor="ctr">
            <a:spAutoFit/>
          </a:bodyPr>
          <a:lstStyle/>
          <a:p>
            <a:r>
              <a:rPr sz="1400" b="1" i="0">
                <a:solidFill>
                  <a:srgbClr val="1F2A44"/>
                </a:solidFill>
                <a:latin typeface="Calibri"/>
              </a:rPr>
              <a:t>Writers</a:t>
            </a:r>
          </a:p>
          <a:p>
            <a:r>
              <a:rPr sz="1150" b="0" i="0">
                <a:solidFill>
                  <a:srgbClr val="5B6B86"/>
                </a:solidFill>
                <a:latin typeface="Courier New"/>
              </a:rPr>
              <a:t>writers.py</a:t>
            </a:r>
          </a:p>
        </p:txBody>
      </p:sp>
      <p:sp>
        <p:nvSpPr>
          <p:cNvPr id="14" name="Rounded Rectangle 13"/>
          <p:cNvSpPr/>
          <p:nvPr/>
        </p:nvSpPr>
        <p:spPr>
          <a:xfrm>
            <a:off x="8759952" y="3063240"/>
            <a:ext cx="2788920" cy="841248"/>
          </a:xfrm>
          <a:prstGeom prst="roundRect">
            <a:avLst>
              <a:gd name="adj" fmla="val 7000"/>
            </a:avLst>
          </a:prstGeom>
          <a:solidFill>
            <a:srgbClr val="F3F5FB"/>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897112" y="3063240"/>
            <a:ext cx="2560320" cy="841248"/>
          </a:xfrm>
          <a:prstGeom prst="rect">
            <a:avLst/>
          </a:prstGeom>
          <a:noFill/>
        </p:spPr>
        <p:txBody>
          <a:bodyPr wrap="square" lIns="38100" tIns="25400" rIns="38100" bIns="25400" anchor="ctr">
            <a:spAutoFit/>
          </a:bodyPr>
          <a:lstStyle/>
          <a:p>
            <a:r>
              <a:rPr sz="1400" b="1" i="0">
                <a:solidFill>
                  <a:srgbClr val="1F2A44"/>
                </a:solidFill>
                <a:latin typeface="Calibri"/>
              </a:rPr>
              <a:t>Plots</a:t>
            </a:r>
          </a:p>
          <a:p>
            <a:r>
              <a:rPr sz="1150" b="0" i="0">
                <a:solidFill>
                  <a:srgbClr val="5B6B86"/>
                </a:solidFill>
                <a:latin typeface="Courier New"/>
              </a:rPr>
              <a:t>plots.py</a:t>
            </a:r>
          </a:p>
        </p:txBody>
      </p:sp>
      <p:cxnSp>
        <p:nvCxnSpPr>
          <p:cNvPr id="16" name="Connector 15"/>
          <p:cNvCxnSpPr/>
          <p:nvPr/>
        </p:nvCxnSpPr>
        <p:spPr>
          <a:xfrm>
            <a:off x="3456432" y="2295144"/>
            <a:ext cx="996696" cy="356616"/>
          </a:xfrm>
          <a:prstGeom prst="line">
            <a:avLst/>
          </a:prstGeom>
          <a:ln w="28575">
            <a:solidFill>
              <a:srgbClr val="2E9E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456432" y="3246120"/>
            <a:ext cx="996696" cy="237744"/>
          </a:xfrm>
          <a:prstGeom prst="line">
            <a:avLst/>
          </a:prstGeom>
          <a:ln w="28575">
            <a:solidFill>
              <a:srgbClr val="2E9E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754111" y="2295144"/>
            <a:ext cx="978409" cy="356616"/>
          </a:xfrm>
          <a:prstGeom prst="line">
            <a:avLst/>
          </a:prstGeom>
          <a:ln w="28575">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54111" y="3246120"/>
            <a:ext cx="978409" cy="237744"/>
          </a:xfrm>
          <a:prstGeom prst="line">
            <a:avLst/>
          </a:prstGeom>
          <a:ln w="28575">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977640" y="4526279"/>
            <a:ext cx="4251960" cy="548640"/>
          </a:xfrm>
          <a:prstGeom prst="roundRect">
            <a:avLst>
              <a:gd name="adj" fmla="val 8000"/>
            </a:avLst>
          </a:prstGeom>
          <a:solidFill>
            <a:srgbClr val="EEF1FA"/>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3977640" y="4526279"/>
            <a:ext cx="4251960" cy="548640"/>
          </a:xfrm>
          <a:prstGeom prst="rect">
            <a:avLst/>
          </a:prstGeom>
          <a:noFill/>
        </p:spPr>
        <p:txBody>
          <a:bodyPr wrap="square" lIns="38100" tIns="25400" rIns="38100" bIns="25400" anchor="ctr">
            <a:spAutoFit/>
          </a:bodyPr>
          <a:lstStyle/>
          <a:p>
            <a:pPr algn="ctr"/>
            <a:r>
              <a:rPr sz="1250" b="1" i="0">
                <a:solidFill>
                  <a:srgbClr val="1E2761"/>
                </a:solidFill>
                <a:latin typeface="Calibri"/>
              </a:rPr>
              <a:t>Scheduler plugs in:  </a:t>
            </a:r>
            <a:r>
              <a:rPr sz="1250" b="0" i="0">
                <a:solidFill>
                  <a:srgbClr val="1F2A44"/>
                </a:solidFill>
                <a:latin typeface="Calibri"/>
              </a:rPr>
              <a:t>Motion ⊕ Dispatch</a:t>
            </a:r>
          </a:p>
        </p:txBody>
      </p:sp>
      <p:sp>
        <p:nvSpPr>
          <p:cNvPr id="22" name="TextBox 21"/>
          <p:cNvSpPr txBox="1"/>
          <p:nvPr/>
        </p:nvSpPr>
        <p:spPr>
          <a:xfrm>
            <a:off x="640080" y="5349240"/>
            <a:ext cx="10881360" cy="1371600"/>
          </a:xfrm>
          <a:prstGeom prst="rect">
            <a:avLst/>
          </a:prstGeom>
          <a:noFill/>
        </p:spPr>
        <p:txBody>
          <a:bodyPr wrap="square" lIns="38100" tIns="25400" rIns="38100" bIns="25400">
            <a:spAutoFit/>
          </a:bodyPr>
          <a:lstStyle/>
          <a:p>
            <a:pPr marL="203200" indent="-203200">
              <a:spcAft>
                <a:spcPts val="700"/>
              </a:spcAft>
              <a:buFont typeface="Arial"/>
              <a:buChar char="•"/>
            </a:pPr>
            <a:r>
              <a:rPr sz="1350" b="0" i="0">
                <a:solidFill>
                  <a:srgbClr val="1F2A44"/>
                </a:solidFill>
                <a:latin typeface="Calibri"/>
              </a:rPr>
              <a:t>The core never touches files, DB, or UI — pure input → output.</a:t>
            </a:r>
          </a:p>
          <a:p>
            <a:pPr marL="203200" indent="-203200">
              <a:spcAft>
                <a:spcPts val="700"/>
              </a:spcAft>
              <a:buFont typeface="Arial"/>
              <a:buChar char="•"/>
            </a:pPr>
            <a:r>
              <a:rPr sz="1350" b="0" i="0">
                <a:solidFill>
                  <a:srgbClr val="1F2A44"/>
                </a:solidFill>
                <a:latin typeface="Calibri"/>
              </a:rPr>
              <a:t>compute (metrics) / save (writers) / render (plots) are separated.</a:t>
            </a:r>
          </a:p>
          <a:p>
            <a:pPr marL="203200" indent="-203200">
              <a:spcAft>
                <a:spcPts val="700"/>
              </a:spcAft>
              <a:buFont typeface="Arial"/>
              <a:buChar char="•"/>
            </a:pPr>
            <a:r>
              <a:rPr sz="1350" b="0" i="0">
                <a:solidFill>
                  <a:srgbClr val="1F2A44"/>
                </a:solidFill>
                <a:latin typeface="Calibri"/>
              </a:rPr>
              <a:t>One core, many drivers: CLI (1 run), demo (18 runs), Phase-2 grid.</a:t>
            </a:r>
          </a:p>
          <a:p>
            <a:pPr marL="203200" indent="-203200">
              <a:spcAft>
                <a:spcPts val="700"/>
              </a:spcAft>
              <a:buFont typeface="Arial"/>
              <a:buChar char="•"/>
            </a:pPr>
            <a:r>
              <a:rPr sz="1350" b="0" i="0">
                <a:solidFill>
                  <a:srgbClr val="1F2A44"/>
                </a:solidFill>
                <a:latin typeface="Calibri"/>
              </a:rPr>
              <a:t>Phase-2 grid loops the same core over 100 seeds — no changes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DISPATCH — THE MAIN AXIS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Five policies, ordered by how much information they use</a:t>
            </a:r>
          </a:p>
        </p:txBody>
      </p:sp>
      <p:sp>
        <p:nvSpPr>
          <p:cNvPr id="4" name="Rounded Rectangle 3"/>
          <p:cNvSpPr/>
          <p:nvPr/>
        </p:nvSpPr>
        <p:spPr>
          <a:xfrm>
            <a:off x="640080" y="1572768"/>
            <a:ext cx="10881360" cy="82296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ounded Rectangle 4"/>
          <p:cNvSpPr/>
          <p:nvPr/>
        </p:nvSpPr>
        <p:spPr>
          <a:xfrm>
            <a:off x="822960" y="1737360"/>
            <a:ext cx="2148840" cy="493776"/>
          </a:xfrm>
          <a:prstGeom prst="roundRect">
            <a:avLst>
              <a:gd name="adj" fmla="val 9000"/>
            </a:avLst>
          </a:prstGeom>
          <a:solidFill>
            <a:srgbClr val="9AA6B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22960" y="1737360"/>
            <a:ext cx="2148840" cy="493776"/>
          </a:xfrm>
          <a:prstGeom prst="rect">
            <a:avLst/>
          </a:prstGeom>
          <a:noFill/>
        </p:spPr>
        <p:txBody>
          <a:bodyPr wrap="square" lIns="38100" tIns="25400" rIns="38100" bIns="25400" anchor="ctr">
            <a:spAutoFit/>
          </a:bodyPr>
          <a:lstStyle/>
          <a:p>
            <a:pPr algn="ctr"/>
            <a:r>
              <a:rPr sz="1450" b="1" i="0">
                <a:solidFill>
                  <a:srgbClr val="FFFFFF"/>
                </a:solidFill>
                <a:latin typeface="Calibri"/>
              </a:rPr>
              <a:t>Round-robin</a:t>
            </a:r>
          </a:p>
        </p:txBody>
      </p:sp>
      <p:sp>
        <p:nvSpPr>
          <p:cNvPr id="7" name="TextBox 6"/>
          <p:cNvSpPr txBox="1"/>
          <p:nvPr/>
        </p:nvSpPr>
        <p:spPr>
          <a:xfrm>
            <a:off x="3154680" y="1572768"/>
            <a:ext cx="2743200" cy="822960"/>
          </a:xfrm>
          <a:prstGeom prst="rect">
            <a:avLst/>
          </a:prstGeom>
          <a:noFill/>
        </p:spPr>
        <p:txBody>
          <a:bodyPr wrap="square" lIns="38100" tIns="25400" rIns="38100" bIns="25400" anchor="ctr">
            <a:spAutoFit/>
          </a:bodyPr>
          <a:lstStyle/>
          <a:p>
            <a:r>
              <a:rPr sz="1250" b="0" i="1">
                <a:solidFill>
                  <a:srgbClr val="6B7280"/>
                </a:solidFill>
                <a:latin typeface="Calibri"/>
              </a:rPr>
              <a:t>uses: </a:t>
            </a:r>
            <a:r>
              <a:rPr sz="1250" b="1" i="0">
                <a:solidFill>
                  <a:srgbClr val="1E2761"/>
                </a:solidFill>
                <a:latin typeface="Calibri"/>
              </a:rPr>
              <a:t>nothing</a:t>
            </a:r>
          </a:p>
        </p:txBody>
      </p:sp>
      <p:sp>
        <p:nvSpPr>
          <p:cNvPr id="8" name="TextBox 7"/>
          <p:cNvSpPr txBox="1"/>
          <p:nvPr/>
        </p:nvSpPr>
        <p:spPr>
          <a:xfrm>
            <a:off x="5943600" y="1572768"/>
            <a:ext cx="5440680" cy="822960"/>
          </a:xfrm>
          <a:prstGeom prst="rect">
            <a:avLst/>
          </a:prstGeom>
          <a:noFill/>
        </p:spPr>
        <p:txBody>
          <a:bodyPr wrap="square" lIns="38100" tIns="25400" rIns="38100" bIns="25400" anchor="ctr">
            <a:spAutoFit/>
          </a:bodyPr>
          <a:lstStyle/>
          <a:p>
            <a:r>
              <a:rPr sz="1250" b="0" i="0">
                <a:solidFill>
                  <a:srgbClr val="1F2A44"/>
                </a:solidFill>
                <a:latin typeface="Calibri"/>
              </a:rPr>
              <a:t>Rotate through cars in order — ignores position entirely (naive baseline).</a:t>
            </a:r>
          </a:p>
        </p:txBody>
      </p:sp>
      <p:sp>
        <p:nvSpPr>
          <p:cNvPr id="9" name="Rounded Rectangle 8"/>
          <p:cNvSpPr/>
          <p:nvPr/>
        </p:nvSpPr>
        <p:spPr>
          <a:xfrm>
            <a:off x="640080" y="2505456"/>
            <a:ext cx="10881360" cy="82296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822960" y="2670048"/>
            <a:ext cx="2148840" cy="493776"/>
          </a:xfrm>
          <a:prstGeom prst="roundRect">
            <a:avLst>
              <a:gd name="adj" fmla="val 9000"/>
            </a:avLst>
          </a:prstGeom>
          <a:solidFill>
            <a:srgbClr val="7C9BD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22960" y="2670048"/>
            <a:ext cx="2148840" cy="493776"/>
          </a:xfrm>
          <a:prstGeom prst="rect">
            <a:avLst/>
          </a:prstGeom>
          <a:noFill/>
        </p:spPr>
        <p:txBody>
          <a:bodyPr wrap="square" lIns="38100" tIns="25400" rIns="38100" bIns="25400" anchor="ctr">
            <a:spAutoFit/>
          </a:bodyPr>
          <a:lstStyle/>
          <a:p>
            <a:pPr algn="ctr"/>
            <a:r>
              <a:rPr sz="1450" b="1" i="0">
                <a:solidFill>
                  <a:srgbClr val="FFFFFF"/>
                </a:solidFill>
                <a:latin typeface="Calibri"/>
              </a:rPr>
              <a:t>Nearest-car</a:t>
            </a:r>
          </a:p>
        </p:txBody>
      </p:sp>
      <p:sp>
        <p:nvSpPr>
          <p:cNvPr id="12" name="TextBox 11"/>
          <p:cNvSpPr txBox="1"/>
          <p:nvPr/>
        </p:nvSpPr>
        <p:spPr>
          <a:xfrm>
            <a:off x="3154680" y="2505456"/>
            <a:ext cx="2743200" cy="822960"/>
          </a:xfrm>
          <a:prstGeom prst="rect">
            <a:avLst/>
          </a:prstGeom>
          <a:noFill/>
        </p:spPr>
        <p:txBody>
          <a:bodyPr wrap="square" lIns="38100" tIns="25400" rIns="38100" bIns="25400" anchor="ctr">
            <a:spAutoFit/>
          </a:bodyPr>
          <a:lstStyle/>
          <a:p>
            <a:r>
              <a:rPr sz="1250" b="0" i="1">
                <a:solidFill>
                  <a:srgbClr val="6B7280"/>
                </a:solidFill>
                <a:latin typeface="Calibri"/>
              </a:rPr>
              <a:t>uses: </a:t>
            </a:r>
            <a:r>
              <a:rPr sz="1250" b="1" i="0">
                <a:solidFill>
                  <a:srgbClr val="1E2761"/>
                </a:solidFill>
                <a:latin typeface="Calibri"/>
              </a:rPr>
              <a:t>position + direction</a:t>
            </a:r>
          </a:p>
        </p:txBody>
      </p:sp>
      <p:sp>
        <p:nvSpPr>
          <p:cNvPr id="13" name="TextBox 12"/>
          <p:cNvSpPr txBox="1"/>
          <p:nvPr/>
        </p:nvSpPr>
        <p:spPr>
          <a:xfrm>
            <a:off x="5943600" y="2505456"/>
            <a:ext cx="5440680" cy="822960"/>
          </a:xfrm>
          <a:prstGeom prst="rect">
            <a:avLst/>
          </a:prstGeom>
          <a:noFill/>
        </p:spPr>
        <p:txBody>
          <a:bodyPr wrap="square" lIns="38100" tIns="25400" rIns="38100" bIns="25400" anchor="ctr">
            <a:spAutoFit/>
          </a:bodyPr>
          <a:lstStyle/>
          <a:p>
            <a:r>
              <a:rPr sz="1250" b="0" i="0">
                <a:solidFill>
                  <a:srgbClr val="1F2A44"/>
                </a:solidFill>
                <a:latin typeface="Calibri"/>
              </a:rPr>
              <a:t>Classic “Figure of Suitability” — close cars heading the right way score higher.</a:t>
            </a:r>
          </a:p>
        </p:txBody>
      </p:sp>
      <p:sp>
        <p:nvSpPr>
          <p:cNvPr id="14" name="Rounded Rectangle 13"/>
          <p:cNvSpPr/>
          <p:nvPr/>
        </p:nvSpPr>
        <p:spPr>
          <a:xfrm>
            <a:off x="640080" y="3438144"/>
            <a:ext cx="10881360" cy="82296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822960" y="3602736"/>
            <a:ext cx="2148840" cy="493776"/>
          </a:xfrm>
          <a:prstGeom prst="roundRect">
            <a:avLst>
              <a:gd name="adj" fmla="val 9000"/>
            </a:avLst>
          </a:prstGeom>
          <a:solidFill>
            <a:srgbClr val="6C8F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22960" y="3602736"/>
            <a:ext cx="2148840" cy="493776"/>
          </a:xfrm>
          <a:prstGeom prst="rect">
            <a:avLst/>
          </a:prstGeom>
          <a:noFill/>
        </p:spPr>
        <p:txBody>
          <a:bodyPr wrap="square" lIns="38100" tIns="25400" rIns="38100" bIns="25400" anchor="ctr">
            <a:spAutoFit/>
          </a:bodyPr>
          <a:lstStyle/>
          <a:p>
            <a:pPr algn="ctr"/>
            <a:r>
              <a:rPr sz="1450" b="1" i="0">
                <a:solidFill>
                  <a:srgbClr val="FFFFFF"/>
                </a:solidFill>
                <a:latin typeface="Calibri"/>
              </a:rPr>
              <a:t>Zone-based</a:t>
            </a:r>
          </a:p>
        </p:txBody>
      </p:sp>
      <p:sp>
        <p:nvSpPr>
          <p:cNvPr id="17" name="TextBox 16"/>
          <p:cNvSpPr txBox="1"/>
          <p:nvPr/>
        </p:nvSpPr>
        <p:spPr>
          <a:xfrm>
            <a:off x="3154680" y="3438144"/>
            <a:ext cx="2743200" cy="822960"/>
          </a:xfrm>
          <a:prstGeom prst="rect">
            <a:avLst/>
          </a:prstGeom>
          <a:noFill/>
        </p:spPr>
        <p:txBody>
          <a:bodyPr wrap="square" lIns="38100" tIns="25400" rIns="38100" bIns="25400" anchor="ctr">
            <a:spAutoFit/>
          </a:bodyPr>
          <a:lstStyle/>
          <a:p>
            <a:r>
              <a:rPr sz="1250" b="0" i="1">
                <a:solidFill>
                  <a:srgbClr val="6B7280"/>
                </a:solidFill>
                <a:latin typeface="Calibri"/>
              </a:rPr>
              <a:t>uses: </a:t>
            </a:r>
            <a:r>
              <a:rPr sz="1250" b="1" i="0">
                <a:solidFill>
                  <a:srgbClr val="1E2761"/>
                </a:solidFill>
                <a:latin typeface="Calibri"/>
              </a:rPr>
              <a:t>geography</a:t>
            </a:r>
          </a:p>
        </p:txBody>
      </p:sp>
      <p:sp>
        <p:nvSpPr>
          <p:cNvPr id="18" name="TextBox 17"/>
          <p:cNvSpPr txBox="1"/>
          <p:nvPr/>
        </p:nvSpPr>
        <p:spPr>
          <a:xfrm>
            <a:off x="5943600" y="3438144"/>
            <a:ext cx="5440680" cy="822960"/>
          </a:xfrm>
          <a:prstGeom prst="rect">
            <a:avLst/>
          </a:prstGeom>
          <a:noFill/>
        </p:spPr>
        <p:txBody>
          <a:bodyPr wrap="square" lIns="38100" tIns="25400" rIns="38100" bIns="25400" anchor="ctr">
            <a:spAutoFit/>
          </a:bodyPr>
          <a:lstStyle/>
          <a:p>
            <a:r>
              <a:rPr sz="1250" b="0" i="0">
                <a:solidFill>
                  <a:srgbClr val="1F2A44"/>
                </a:solidFill>
                <a:latin typeface="Calibri"/>
              </a:rPr>
              <a:t>Split the building into banks; a request goes to its zone’s nearest car.</a:t>
            </a:r>
          </a:p>
        </p:txBody>
      </p:sp>
      <p:sp>
        <p:nvSpPr>
          <p:cNvPr id="19" name="Rounded Rectangle 18"/>
          <p:cNvSpPr/>
          <p:nvPr/>
        </p:nvSpPr>
        <p:spPr>
          <a:xfrm>
            <a:off x="640080" y="4370832"/>
            <a:ext cx="10881360" cy="822960"/>
          </a:xfrm>
          <a:prstGeom prst="roundRect">
            <a:avLst>
              <a:gd name="adj" fmla="val 6000"/>
            </a:avLst>
          </a:prstGeom>
          <a:solidFill>
            <a:srgbClr val="F7FAF9"/>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822960" y="4535424"/>
            <a:ext cx="2148840" cy="493776"/>
          </a:xfrm>
          <a:prstGeom prst="roundRect">
            <a:avLst>
              <a:gd name="adj" fmla="val 9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22960" y="4535424"/>
            <a:ext cx="2148840" cy="493776"/>
          </a:xfrm>
          <a:prstGeom prst="rect">
            <a:avLst/>
          </a:prstGeom>
          <a:noFill/>
        </p:spPr>
        <p:txBody>
          <a:bodyPr wrap="square" lIns="38100" tIns="25400" rIns="38100" bIns="25400" anchor="ctr">
            <a:spAutoFit/>
          </a:bodyPr>
          <a:lstStyle/>
          <a:p>
            <a:pPr algn="ctr"/>
            <a:r>
              <a:rPr sz="1450" b="1" i="0">
                <a:solidFill>
                  <a:srgbClr val="13233A"/>
                </a:solidFill>
                <a:latin typeface="Calibri"/>
              </a:rPr>
              <a:t>Cost-function</a:t>
            </a:r>
          </a:p>
        </p:txBody>
      </p:sp>
      <p:sp>
        <p:nvSpPr>
          <p:cNvPr id="22" name="TextBox 21"/>
          <p:cNvSpPr txBox="1"/>
          <p:nvPr/>
        </p:nvSpPr>
        <p:spPr>
          <a:xfrm>
            <a:off x="3154680" y="4370832"/>
            <a:ext cx="2743200" cy="822960"/>
          </a:xfrm>
          <a:prstGeom prst="rect">
            <a:avLst/>
          </a:prstGeom>
          <a:noFill/>
        </p:spPr>
        <p:txBody>
          <a:bodyPr wrap="square" lIns="38100" tIns="25400" rIns="38100" bIns="25400" anchor="ctr">
            <a:spAutoFit/>
          </a:bodyPr>
          <a:lstStyle/>
          <a:p>
            <a:r>
              <a:rPr sz="1250" b="0" i="1">
                <a:solidFill>
                  <a:srgbClr val="6B7280"/>
                </a:solidFill>
                <a:latin typeface="Calibri"/>
              </a:rPr>
              <a:t>uses: </a:t>
            </a:r>
            <a:r>
              <a:rPr sz="1250" b="1" i="0">
                <a:solidFill>
                  <a:srgbClr val="1E2761"/>
                </a:solidFill>
                <a:latin typeface="Calibri"/>
              </a:rPr>
              <a:t>+ load + ETA</a:t>
            </a:r>
          </a:p>
        </p:txBody>
      </p:sp>
      <p:sp>
        <p:nvSpPr>
          <p:cNvPr id="23" name="TextBox 22"/>
          <p:cNvSpPr txBox="1"/>
          <p:nvPr/>
        </p:nvSpPr>
        <p:spPr>
          <a:xfrm>
            <a:off x="5943600" y="4370832"/>
            <a:ext cx="5440680" cy="822960"/>
          </a:xfrm>
          <a:prstGeom prst="rect">
            <a:avLst/>
          </a:prstGeom>
          <a:noFill/>
        </p:spPr>
        <p:txBody>
          <a:bodyPr wrap="square" lIns="38100" tIns="25400" rIns="38100" bIns="25400" anchor="ctr">
            <a:spAutoFit/>
          </a:bodyPr>
          <a:lstStyle/>
          <a:p>
            <a:r>
              <a:rPr sz="1250" b="0" i="0">
                <a:solidFill>
                  <a:srgbClr val="1F2A44"/>
                </a:solidFill>
                <a:latin typeface="Calibri"/>
              </a:rPr>
              <a:t>Score each car by distance + direction + backlog + route-ETA; take the cheapest.</a:t>
            </a:r>
          </a:p>
        </p:txBody>
      </p:sp>
      <p:sp>
        <p:nvSpPr>
          <p:cNvPr id="24" name="Rounded Rectangle 23"/>
          <p:cNvSpPr/>
          <p:nvPr/>
        </p:nvSpPr>
        <p:spPr>
          <a:xfrm>
            <a:off x="640080" y="5303520"/>
            <a:ext cx="10881360" cy="822960"/>
          </a:xfrm>
          <a:prstGeom prst="roundRect">
            <a:avLst>
              <a:gd name="adj" fmla="val 6000"/>
            </a:avLst>
          </a:prstGeom>
          <a:solidFill>
            <a:srgbClr val="F7FAF9"/>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24"/>
          <p:cNvSpPr/>
          <p:nvPr/>
        </p:nvSpPr>
        <p:spPr>
          <a:xfrm>
            <a:off x="822960" y="5468112"/>
            <a:ext cx="2148840" cy="493776"/>
          </a:xfrm>
          <a:prstGeom prst="roundRect">
            <a:avLst>
              <a:gd name="adj" fmla="val 9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822960" y="5468112"/>
            <a:ext cx="2148840" cy="493776"/>
          </a:xfrm>
          <a:prstGeom prst="rect">
            <a:avLst/>
          </a:prstGeom>
          <a:noFill/>
        </p:spPr>
        <p:txBody>
          <a:bodyPr wrap="square" lIns="38100" tIns="25400" rIns="38100" bIns="25400" anchor="ctr">
            <a:spAutoFit/>
          </a:bodyPr>
          <a:lstStyle/>
          <a:p>
            <a:pPr algn="ctr"/>
            <a:r>
              <a:rPr sz="1450" b="1" i="0">
                <a:solidFill>
                  <a:srgbClr val="13233A"/>
                </a:solidFill>
                <a:latin typeface="Calibri"/>
              </a:rPr>
              <a:t>Hungarian</a:t>
            </a:r>
          </a:p>
        </p:txBody>
      </p:sp>
      <p:sp>
        <p:nvSpPr>
          <p:cNvPr id="27" name="TextBox 26"/>
          <p:cNvSpPr txBox="1"/>
          <p:nvPr/>
        </p:nvSpPr>
        <p:spPr>
          <a:xfrm>
            <a:off x="3154680" y="5303520"/>
            <a:ext cx="2743200" cy="822960"/>
          </a:xfrm>
          <a:prstGeom prst="rect">
            <a:avLst/>
          </a:prstGeom>
          <a:noFill/>
        </p:spPr>
        <p:txBody>
          <a:bodyPr wrap="square" lIns="38100" tIns="25400" rIns="38100" bIns="25400" anchor="ctr">
            <a:spAutoFit/>
          </a:bodyPr>
          <a:lstStyle/>
          <a:p>
            <a:r>
              <a:rPr sz="1250" b="0" i="1">
                <a:solidFill>
                  <a:srgbClr val="6B7280"/>
                </a:solidFill>
                <a:latin typeface="Calibri"/>
              </a:rPr>
              <a:t>uses: </a:t>
            </a:r>
            <a:r>
              <a:rPr sz="1250" b="1" i="0">
                <a:solidFill>
                  <a:srgbClr val="1E2761"/>
                </a:solidFill>
                <a:latin typeface="Calibri"/>
              </a:rPr>
              <a:t>the whole batch, jointly</a:t>
            </a:r>
          </a:p>
        </p:txBody>
      </p:sp>
      <p:sp>
        <p:nvSpPr>
          <p:cNvPr id="28" name="TextBox 27"/>
          <p:cNvSpPr txBox="1"/>
          <p:nvPr/>
        </p:nvSpPr>
        <p:spPr>
          <a:xfrm>
            <a:off x="5943600" y="5303520"/>
            <a:ext cx="5440680" cy="822960"/>
          </a:xfrm>
          <a:prstGeom prst="rect">
            <a:avLst/>
          </a:prstGeom>
          <a:noFill/>
        </p:spPr>
        <p:txBody>
          <a:bodyPr wrap="square" lIns="38100" tIns="25400" rIns="38100" bIns="25400" anchor="ctr">
            <a:spAutoFit/>
          </a:bodyPr>
          <a:lstStyle/>
          <a:p>
            <a:r>
              <a:rPr sz="1250" b="0" i="0">
                <a:solidFill>
                  <a:srgbClr val="1F2A44"/>
                </a:solidFill>
                <a:latin typeface="Calibri"/>
              </a:rPr>
              <a:t>Optimal assignment of all pending requests at once (scipy) — the benchmark.</a:t>
            </a:r>
          </a:p>
        </p:txBody>
      </p:sp>
      <p:sp>
        <p:nvSpPr>
          <p:cNvPr id="29" name="TextBox 28"/>
          <p:cNvSpPr txBox="1"/>
          <p:nvPr/>
        </p:nvSpPr>
        <p:spPr>
          <a:xfrm>
            <a:off x="640080" y="6309360"/>
            <a:ext cx="10881360" cy="320040"/>
          </a:xfrm>
          <a:prstGeom prst="rect">
            <a:avLst/>
          </a:prstGeom>
          <a:noFill/>
        </p:spPr>
        <p:txBody>
          <a:bodyPr wrap="square" lIns="38100" tIns="25400" rIns="38100" bIns="25400">
            <a:spAutoFit/>
          </a:bodyPr>
          <a:lstStyle/>
          <a:p>
            <a:pPr algn="ctr"/>
            <a:r>
              <a:rPr sz="1250" b="0" i="1">
                <a:solidFill>
                  <a:srgbClr val="5B6B86"/>
                </a:solidFill>
                <a:latin typeface="Calibri"/>
              </a:rPr>
              <a:t>→ more information used → smarter routing (but heavier compute)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MOTION — THE FIXED AXIS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How one car sequences its own stops</a:t>
            </a:r>
          </a:p>
        </p:txBody>
      </p:sp>
      <p:sp>
        <p:nvSpPr>
          <p:cNvPr id="4" name="Rounded Rectangle 3"/>
          <p:cNvSpPr/>
          <p:nvPr/>
        </p:nvSpPr>
        <p:spPr>
          <a:xfrm>
            <a:off x="640080" y="1645920"/>
            <a:ext cx="5257800" cy="3154680"/>
          </a:xfrm>
          <a:prstGeom prst="roundRect">
            <a:avLst>
              <a:gd name="adj" fmla="val 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ounded Rectangle 4"/>
          <p:cNvSpPr/>
          <p:nvPr/>
        </p:nvSpPr>
        <p:spPr>
          <a:xfrm>
            <a:off x="914400" y="1920240"/>
            <a:ext cx="1828800" cy="548640"/>
          </a:xfrm>
          <a:prstGeom prst="roundRect">
            <a:avLst>
              <a:gd name="adj" fmla="val 8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14400" y="1920240"/>
            <a:ext cx="1828800" cy="548640"/>
          </a:xfrm>
          <a:prstGeom prst="rect">
            <a:avLst/>
          </a:prstGeom>
          <a:noFill/>
        </p:spPr>
        <p:txBody>
          <a:bodyPr wrap="square" lIns="38100" tIns="25400" rIns="38100" bIns="25400" anchor="ctr">
            <a:spAutoFit/>
          </a:bodyPr>
          <a:lstStyle/>
          <a:p>
            <a:pPr algn="ctr"/>
            <a:r>
              <a:rPr sz="1800" b="1" i="0">
                <a:solidFill>
                  <a:srgbClr val="FFFFFF"/>
                </a:solidFill>
                <a:latin typeface="Calibri"/>
              </a:rPr>
              <a:t>LOOK</a:t>
            </a:r>
          </a:p>
        </p:txBody>
      </p:sp>
      <p:sp>
        <p:nvSpPr>
          <p:cNvPr id="7" name="TextBox 6"/>
          <p:cNvSpPr txBox="1"/>
          <p:nvPr/>
        </p:nvSpPr>
        <p:spPr>
          <a:xfrm>
            <a:off x="2880360" y="1920240"/>
            <a:ext cx="2743200" cy="548640"/>
          </a:xfrm>
          <a:prstGeom prst="rect">
            <a:avLst/>
          </a:prstGeom>
          <a:noFill/>
        </p:spPr>
        <p:txBody>
          <a:bodyPr wrap="square" lIns="38100" tIns="25400" rIns="38100" bIns="25400" anchor="ctr">
            <a:spAutoFit/>
          </a:bodyPr>
          <a:lstStyle/>
          <a:p>
            <a:r>
              <a:rPr sz="1200" b="0" i="1">
                <a:solidFill>
                  <a:srgbClr val="6B7280"/>
                </a:solidFill>
                <a:latin typeface="Calibri"/>
              </a:rPr>
              <a:t>used</a:t>
            </a:r>
          </a:p>
        </p:txBody>
      </p:sp>
      <p:sp>
        <p:nvSpPr>
          <p:cNvPr id="8" name="TextBox 7"/>
          <p:cNvSpPr txBox="1"/>
          <p:nvPr/>
        </p:nvSpPr>
        <p:spPr>
          <a:xfrm>
            <a:off x="960119" y="2697480"/>
            <a:ext cx="4663440" cy="1920240"/>
          </a:xfrm>
          <a:prstGeom prst="rect">
            <a:avLst/>
          </a:prstGeom>
          <a:noFill/>
        </p:spPr>
        <p:txBody>
          <a:bodyPr wrap="square" lIns="38100" tIns="25400" rIns="38100" bIns="25400">
            <a:spAutoFit/>
          </a:bodyPr>
          <a:lstStyle/>
          <a:p>
            <a:pPr marL="203200" indent="-203200">
              <a:spcAft>
                <a:spcPts val="1000"/>
              </a:spcAft>
              <a:buFont typeface="Arial"/>
              <a:buChar char="•"/>
            </a:pPr>
            <a:r>
              <a:rPr sz="1350" b="0" i="0">
                <a:solidFill>
                  <a:srgbClr val="1F2A44"/>
                </a:solidFill>
                <a:latin typeface="Calibri"/>
              </a:rPr>
              <a:t>Sweep one direction, serve every stop on the way, reverse when nothing’s ahead.</a:t>
            </a:r>
          </a:p>
          <a:p>
            <a:pPr marL="203200" indent="-203200">
              <a:spcAft>
                <a:spcPts val="1000"/>
              </a:spcAft>
              <a:buFont typeface="Arial"/>
              <a:buChar char="•"/>
            </a:pPr>
            <a:r>
              <a:rPr sz="1350" b="0" i="0">
                <a:solidFill>
                  <a:srgbClr val="1F2A44"/>
                </a:solidFill>
                <a:latin typeface="Calibri"/>
              </a:rPr>
              <a:t>Efficient — batches nearby stops into one pass.</a:t>
            </a:r>
          </a:p>
          <a:p>
            <a:pPr marL="203200" indent="-203200">
              <a:spcAft>
                <a:spcPts val="1000"/>
              </a:spcAft>
              <a:buFont typeface="Arial"/>
              <a:buChar char="•"/>
            </a:pPr>
            <a:r>
              <a:rPr sz="1350" b="0" i="0">
                <a:solidFill>
                  <a:srgbClr val="1F2A44"/>
                </a:solidFill>
                <a:latin typeface="Calibri"/>
              </a:rPr>
              <a:t>Starvation-free — the sweep reaches every floor.</a:t>
            </a:r>
          </a:p>
        </p:txBody>
      </p:sp>
      <p:sp>
        <p:nvSpPr>
          <p:cNvPr id="9" name="Rounded Rectangle 8"/>
          <p:cNvSpPr/>
          <p:nvPr/>
        </p:nvSpPr>
        <p:spPr>
          <a:xfrm>
            <a:off x="6263640" y="1645920"/>
            <a:ext cx="5257800" cy="3154680"/>
          </a:xfrm>
          <a:prstGeom prst="roundRect">
            <a:avLst>
              <a:gd name="adj" fmla="val 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6537960" y="1920240"/>
            <a:ext cx="1828800" cy="548640"/>
          </a:xfrm>
          <a:prstGeom prst="roundRect">
            <a:avLst>
              <a:gd name="adj" fmla="val 8000"/>
            </a:avLst>
          </a:prstGeom>
          <a:solidFill>
            <a:srgbClr val="C05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7960" y="1920240"/>
            <a:ext cx="1828800" cy="548640"/>
          </a:xfrm>
          <a:prstGeom prst="rect">
            <a:avLst/>
          </a:prstGeom>
          <a:noFill/>
        </p:spPr>
        <p:txBody>
          <a:bodyPr wrap="square" lIns="38100" tIns="25400" rIns="38100" bIns="25400" anchor="ctr">
            <a:spAutoFit/>
          </a:bodyPr>
          <a:lstStyle/>
          <a:p>
            <a:pPr algn="ctr"/>
            <a:r>
              <a:rPr sz="1800" b="1" i="0">
                <a:solidFill>
                  <a:srgbClr val="FFFFFF"/>
                </a:solidFill>
                <a:latin typeface="Calibri"/>
              </a:rPr>
              <a:t>FCFS</a:t>
            </a:r>
          </a:p>
        </p:txBody>
      </p:sp>
      <p:sp>
        <p:nvSpPr>
          <p:cNvPr id="12" name="TextBox 11"/>
          <p:cNvSpPr txBox="1"/>
          <p:nvPr/>
        </p:nvSpPr>
        <p:spPr>
          <a:xfrm>
            <a:off x="8503920" y="1920240"/>
            <a:ext cx="2743200" cy="548640"/>
          </a:xfrm>
          <a:prstGeom prst="rect">
            <a:avLst/>
          </a:prstGeom>
          <a:noFill/>
        </p:spPr>
        <p:txBody>
          <a:bodyPr wrap="square" lIns="38100" tIns="25400" rIns="38100" bIns="25400" anchor="ctr">
            <a:spAutoFit/>
          </a:bodyPr>
          <a:lstStyle/>
          <a:p>
            <a:r>
              <a:rPr sz="1200" b="0" i="1">
                <a:solidFill>
                  <a:srgbClr val="6B7280"/>
                </a:solidFill>
                <a:latin typeface="Calibri"/>
              </a:rPr>
              <a:t>baseline</a:t>
            </a:r>
          </a:p>
        </p:txBody>
      </p:sp>
      <p:sp>
        <p:nvSpPr>
          <p:cNvPr id="13" name="TextBox 12"/>
          <p:cNvSpPr txBox="1"/>
          <p:nvPr/>
        </p:nvSpPr>
        <p:spPr>
          <a:xfrm>
            <a:off x="6583680" y="2697480"/>
            <a:ext cx="4663440" cy="1920240"/>
          </a:xfrm>
          <a:prstGeom prst="rect">
            <a:avLst/>
          </a:prstGeom>
          <a:noFill/>
        </p:spPr>
        <p:txBody>
          <a:bodyPr wrap="square" lIns="38100" tIns="25400" rIns="38100" bIns="25400">
            <a:spAutoFit/>
          </a:bodyPr>
          <a:lstStyle/>
          <a:p>
            <a:pPr marL="203200" indent="-203200">
              <a:spcAft>
                <a:spcPts val="1000"/>
              </a:spcAft>
              <a:buFont typeface="Arial"/>
              <a:buChar char="•"/>
            </a:pPr>
            <a:r>
              <a:rPr sz="1350" b="0" i="0">
                <a:solidFill>
                  <a:srgbClr val="1F2A44"/>
                </a:solidFill>
                <a:latin typeface="Calibri"/>
              </a:rPr>
              <a:t>Serve stops in strict passenger arrival order, wherever they are.</a:t>
            </a:r>
          </a:p>
          <a:p>
            <a:pPr marL="203200" indent="-203200">
              <a:spcAft>
                <a:spcPts val="1000"/>
              </a:spcAft>
              <a:buFont typeface="Arial"/>
              <a:buChar char="•"/>
            </a:pPr>
            <a:r>
              <a:rPr sz="1350" b="0" i="0">
                <a:solidFill>
                  <a:srgbClr val="1F2A44"/>
                </a:solidFill>
                <a:latin typeface="Calibri"/>
              </a:rPr>
              <a:t>Thrashes — bounces across the building (24 → 3 → 20 …).</a:t>
            </a:r>
          </a:p>
          <a:p>
            <a:pPr marL="203200" indent="-203200">
              <a:spcAft>
                <a:spcPts val="1000"/>
              </a:spcAft>
              <a:buFont typeface="Arial"/>
              <a:buChar char="•"/>
            </a:pPr>
            <a:r>
              <a:rPr sz="1350" b="0" i="0">
                <a:solidFill>
                  <a:srgbClr val="1F2A44"/>
                </a:solidFill>
                <a:latin typeface="Calibri"/>
              </a:rPr>
              <a:t>Far more travel per passenger — the cost of ignoring position.</a:t>
            </a:r>
          </a:p>
        </p:txBody>
      </p:sp>
      <p:sp>
        <p:nvSpPr>
          <p:cNvPr id="14" name="Rounded Rectangle 13"/>
          <p:cNvSpPr/>
          <p:nvPr/>
        </p:nvSpPr>
        <p:spPr>
          <a:xfrm>
            <a:off x="640080" y="5074920"/>
            <a:ext cx="10881360" cy="960120"/>
          </a:xfrm>
          <a:prstGeom prst="roundRect">
            <a:avLst>
              <a:gd name="adj" fmla="val 7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14400" y="5074920"/>
            <a:ext cx="10332720" cy="960120"/>
          </a:xfrm>
          <a:prstGeom prst="rect">
            <a:avLst/>
          </a:prstGeom>
          <a:noFill/>
        </p:spPr>
        <p:txBody>
          <a:bodyPr wrap="square" lIns="38100" tIns="25400" rIns="38100" bIns="25400" anchor="ctr">
            <a:spAutoFit/>
          </a:bodyPr>
          <a:lstStyle/>
          <a:p>
            <a:r>
              <a:rPr sz="1400" b="1" i="0">
                <a:solidFill>
                  <a:srgbClr val="F5A623"/>
                </a:solidFill>
                <a:latin typeface="Calibri"/>
              </a:rPr>
              <a:t>Design decision:  </a:t>
            </a:r>
            <a:r>
              <a:rPr sz="1400" b="0" i="0">
                <a:solidFill>
                  <a:srgbClr val="FFFFFF"/>
                </a:solidFill>
                <a:latin typeface="Calibri"/>
              </a:rPr>
              <a:t>motion is fixed at LOOK — near-solved and low-leverage. The real gains are in </a:t>
            </a:r>
            <a:r>
              <a:rPr sz="1400" b="1" i="0">
                <a:solidFill>
                  <a:srgbClr val="CADCFC"/>
                </a:solidFill>
                <a:latin typeface="Calibri"/>
              </a:rPr>
              <a:t>dispatch</a:t>
            </a:r>
            <a:r>
              <a:rPr sz="1400" b="0" i="0">
                <a:solidFill>
                  <a:srgbClr val="FFFFFF"/>
                </a:solidFill>
                <a:latin typeface="Calibri"/>
              </a:rPr>
              <a:t>. FCFS is kept only as a baseline to show the gap.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SETUP</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Assumptions &amp; configuration — modeling a real office building</a:t>
            </a:r>
          </a:p>
        </p:txBody>
      </p:sp>
      <p:sp>
        <p:nvSpPr>
          <p:cNvPr id="4" name="Rounded Rectangle 3"/>
          <p:cNvSpPr/>
          <p:nvPr/>
        </p:nvSpPr>
        <p:spPr>
          <a:xfrm>
            <a:off x="640080" y="1645920"/>
            <a:ext cx="5257800" cy="13716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68680" y="1764792"/>
            <a:ext cx="2743200" cy="320040"/>
          </a:xfrm>
          <a:prstGeom prst="rect">
            <a:avLst/>
          </a:prstGeom>
          <a:noFill/>
        </p:spPr>
        <p:txBody>
          <a:bodyPr wrap="square" lIns="38100" tIns="25400" rIns="38100" bIns="25400">
            <a:spAutoFit/>
          </a:bodyPr>
          <a:lstStyle/>
          <a:p>
            <a:r>
              <a:rPr sz="1450" b="1" i="0">
                <a:solidFill>
                  <a:srgbClr val="1E2761"/>
                </a:solidFill>
                <a:latin typeface="Calibri"/>
              </a:rPr>
              <a:t>System / building</a:t>
            </a:r>
          </a:p>
        </p:txBody>
      </p:sp>
      <p:sp>
        <p:nvSpPr>
          <p:cNvPr id="6" name="TextBox 5"/>
          <p:cNvSpPr txBox="1"/>
          <p:nvPr/>
        </p:nvSpPr>
        <p:spPr>
          <a:xfrm>
            <a:off x="3063240" y="1801368"/>
            <a:ext cx="2788920" cy="274320"/>
          </a:xfrm>
          <a:prstGeom prst="rect">
            <a:avLst/>
          </a:prstGeom>
          <a:noFill/>
        </p:spPr>
        <p:txBody>
          <a:bodyPr wrap="square" lIns="38100" tIns="25400" rIns="38100" bIns="25400" anchor="ctr">
            <a:spAutoFit/>
          </a:bodyPr>
          <a:lstStyle/>
          <a:p>
            <a:pPr algn="r"/>
            <a:r>
              <a:rPr sz="1050" b="0" i="0">
                <a:solidFill>
                  <a:srgbClr val="5B6B86"/>
                </a:solidFill>
                <a:latin typeface="Courier New"/>
              </a:rPr>
              <a:t>config.py · SystemConfig</a:t>
            </a:r>
          </a:p>
        </p:txBody>
      </p:sp>
      <p:sp>
        <p:nvSpPr>
          <p:cNvPr id="7" name="TextBox 6"/>
          <p:cNvSpPr txBox="1"/>
          <p:nvPr/>
        </p:nvSpPr>
        <p:spPr>
          <a:xfrm>
            <a:off x="868680" y="2103120"/>
            <a:ext cx="4892040" cy="868680"/>
          </a:xfrm>
          <a:prstGeom prst="rect">
            <a:avLst/>
          </a:prstGeom>
          <a:noFill/>
        </p:spPr>
        <p:txBody>
          <a:bodyPr wrap="square" lIns="38100" tIns="25400" rIns="38100" bIns="25400">
            <a:spAutoFit/>
          </a:bodyPr>
          <a:lstStyle/>
          <a:p>
            <a:pPr marL="203200" indent="-203200">
              <a:spcAft>
                <a:spcPts val="300"/>
              </a:spcAft>
              <a:buFont typeface="Arial"/>
              <a:buChar char="•"/>
            </a:pPr>
            <a:r>
              <a:rPr sz="1250" b="0" i="0">
                <a:solidFill>
                  <a:srgbClr val="1F2A44"/>
                </a:solidFill>
                <a:latin typeface="Calibri"/>
              </a:rPr>
              <a:t>16 elevators · 25 floors</a:t>
            </a:r>
          </a:p>
          <a:p>
            <a:pPr marL="203200" indent="-203200">
              <a:spcAft>
                <a:spcPts val="300"/>
              </a:spcAft>
              <a:buFont typeface="Arial"/>
              <a:buChar char="•"/>
            </a:pPr>
            <a:r>
              <a:rPr sz="1250" b="0" i="0">
                <a:solidFill>
                  <a:srgbClr val="1F2A44"/>
                </a:solidFill>
                <a:latin typeface="Calibri"/>
              </a:rPr>
              <a:t>capacity 10 · dwell 2 ticks</a:t>
            </a:r>
          </a:p>
          <a:p>
            <a:pPr marL="203200" indent="-203200">
              <a:spcAft>
                <a:spcPts val="300"/>
              </a:spcAft>
              <a:buFont typeface="Arial"/>
              <a:buChar char="•"/>
            </a:pPr>
            <a:r>
              <a:rPr sz="1250" b="0" i="0">
                <a:solidFill>
                  <a:srgbClr val="1F2A44"/>
                </a:solidFill>
                <a:latin typeface="Calibri"/>
              </a:rPr>
              <a:t>all cars start at the lobby</a:t>
            </a:r>
          </a:p>
        </p:txBody>
      </p:sp>
      <p:sp>
        <p:nvSpPr>
          <p:cNvPr id="8" name="Rounded Rectangle 7"/>
          <p:cNvSpPr/>
          <p:nvPr/>
        </p:nvSpPr>
        <p:spPr>
          <a:xfrm>
            <a:off x="640080" y="3154680"/>
            <a:ext cx="5257800" cy="13716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68680" y="3273552"/>
            <a:ext cx="2743200" cy="274434"/>
          </a:xfrm>
          <a:prstGeom prst="rect">
            <a:avLst/>
          </a:prstGeom>
          <a:noFill/>
        </p:spPr>
        <p:txBody>
          <a:bodyPr wrap="square" lIns="38100" tIns="25400" rIns="38100" bIns="25400">
            <a:spAutoFit/>
          </a:bodyPr>
          <a:lstStyle/>
          <a:p>
            <a:r>
              <a:rPr sz="1450" b="1" i="0" dirty="0">
                <a:solidFill>
                  <a:srgbClr val="1E2761"/>
                </a:solidFill>
                <a:latin typeface="Calibri"/>
              </a:rPr>
              <a:t>Workload</a:t>
            </a:r>
            <a:r>
              <a:rPr lang="en-US" sz="1450" b="1" i="0" dirty="0">
                <a:solidFill>
                  <a:srgbClr val="1E2761"/>
                </a:solidFill>
                <a:latin typeface="Calibri"/>
              </a:rPr>
              <a:t> </a:t>
            </a:r>
            <a:r>
              <a:rPr lang="en-US" sz="1450" b="1" dirty="0">
                <a:solidFill>
                  <a:srgbClr val="1E2761"/>
                </a:solidFill>
                <a:latin typeface="Calibri"/>
              </a:rPr>
              <a:t>(Poisson Process)</a:t>
            </a:r>
            <a:endParaRPr sz="1450" b="1" i="0" dirty="0">
              <a:solidFill>
                <a:srgbClr val="1E2761"/>
              </a:solidFill>
              <a:latin typeface="Calibri"/>
            </a:endParaRPr>
          </a:p>
        </p:txBody>
      </p:sp>
      <p:sp>
        <p:nvSpPr>
          <p:cNvPr id="10" name="TextBox 9"/>
          <p:cNvSpPr txBox="1"/>
          <p:nvPr/>
        </p:nvSpPr>
        <p:spPr>
          <a:xfrm>
            <a:off x="3063240" y="3310128"/>
            <a:ext cx="2788920" cy="274320"/>
          </a:xfrm>
          <a:prstGeom prst="rect">
            <a:avLst/>
          </a:prstGeom>
          <a:noFill/>
        </p:spPr>
        <p:txBody>
          <a:bodyPr wrap="square" lIns="38100" tIns="25400" rIns="38100" bIns="25400" anchor="ctr">
            <a:spAutoFit/>
          </a:bodyPr>
          <a:lstStyle/>
          <a:p>
            <a:pPr algn="r"/>
            <a:r>
              <a:rPr sz="1050" b="0" i="0">
                <a:solidFill>
                  <a:srgbClr val="5B6B86"/>
                </a:solidFill>
                <a:latin typeface="Courier New"/>
              </a:rPr>
              <a:t>cli.py · generator.py</a:t>
            </a:r>
          </a:p>
        </p:txBody>
      </p:sp>
      <p:sp>
        <p:nvSpPr>
          <p:cNvPr id="11" name="TextBox 10"/>
          <p:cNvSpPr txBox="1"/>
          <p:nvPr/>
        </p:nvSpPr>
        <p:spPr>
          <a:xfrm>
            <a:off x="868680" y="3611880"/>
            <a:ext cx="4892040" cy="868680"/>
          </a:xfrm>
          <a:prstGeom prst="rect">
            <a:avLst/>
          </a:prstGeom>
          <a:noFill/>
        </p:spPr>
        <p:txBody>
          <a:bodyPr wrap="square" lIns="38100" tIns="25400" rIns="38100" bIns="25400">
            <a:spAutoFit/>
          </a:bodyPr>
          <a:lstStyle/>
          <a:p>
            <a:pPr marL="203200" indent="-203200">
              <a:spcAft>
                <a:spcPts val="300"/>
              </a:spcAft>
              <a:buFont typeface="Arial"/>
              <a:buChar char="•"/>
            </a:pPr>
            <a:r>
              <a:rPr sz="1250" b="0" i="0">
                <a:solidFill>
                  <a:srgbClr val="1F2A44"/>
                </a:solidFill>
                <a:latin typeface="Calibri"/>
              </a:rPr>
              <a:t>up-peak · λ = 3 per tick</a:t>
            </a:r>
          </a:p>
          <a:p>
            <a:pPr marL="203200" indent="-203200">
              <a:spcAft>
                <a:spcPts val="300"/>
              </a:spcAft>
              <a:buFont typeface="Arial"/>
              <a:buChar char="•"/>
            </a:pPr>
            <a:r>
              <a:rPr sz="1250" b="0" i="0">
                <a:solidFill>
                  <a:srgbClr val="1F2A44"/>
                </a:solidFill>
                <a:latin typeface="Calibri"/>
              </a:rPr>
              <a:t>900-tick window · seed 42</a:t>
            </a:r>
          </a:p>
          <a:p>
            <a:pPr marL="203200" indent="-203200">
              <a:spcAft>
                <a:spcPts val="300"/>
              </a:spcAft>
              <a:buFont typeface="Arial"/>
              <a:buChar char="•"/>
            </a:pPr>
            <a:r>
              <a:rPr sz="1250" b="0" i="0">
                <a:solidFill>
                  <a:srgbClr val="1F2A44"/>
                </a:solidFill>
                <a:latin typeface="Calibri"/>
              </a:rPr>
              <a:t>≈ 2,700 passengers</a:t>
            </a:r>
          </a:p>
        </p:txBody>
      </p:sp>
      <p:sp>
        <p:nvSpPr>
          <p:cNvPr id="12" name="Rounded Rectangle 11"/>
          <p:cNvSpPr/>
          <p:nvPr/>
        </p:nvSpPr>
        <p:spPr>
          <a:xfrm>
            <a:off x="640080" y="4663440"/>
            <a:ext cx="5257800" cy="13716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68680" y="4782312"/>
            <a:ext cx="2743200" cy="320040"/>
          </a:xfrm>
          <a:prstGeom prst="rect">
            <a:avLst/>
          </a:prstGeom>
          <a:noFill/>
        </p:spPr>
        <p:txBody>
          <a:bodyPr wrap="square" lIns="38100" tIns="25400" rIns="38100" bIns="25400">
            <a:spAutoFit/>
          </a:bodyPr>
          <a:lstStyle/>
          <a:p>
            <a:r>
              <a:rPr sz="1450" b="1" i="0">
                <a:solidFill>
                  <a:srgbClr val="1E2761"/>
                </a:solidFill>
                <a:latin typeface="Calibri"/>
              </a:rPr>
              <a:t>Scheduler</a:t>
            </a:r>
          </a:p>
        </p:txBody>
      </p:sp>
      <p:sp>
        <p:nvSpPr>
          <p:cNvPr id="14" name="TextBox 13"/>
          <p:cNvSpPr txBox="1"/>
          <p:nvPr/>
        </p:nvSpPr>
        <p:spPr>
          <a:xfrm>
            <a:off x="3063240" y="4818888"/>
            <a:ext cx="2788920" cy="274320"/>
          </a:xfrm>
          <a:prstGeom prst="rect">
            <a:avLst/>
          </a:prstGeom>
          <a:noFill/>
        </p:spPr>
        <p:txBody>
          <a:bodyPr wrap="square" lIns="38100" tIns="25400" rIns="38100" bIns="25400" anchor="ctr">
            <a:spAutoFit/>
          </a:bodyPr>
          <a:lstStyle/>
          <a:p>
            <a:pPr algn="r"/>
            <a:r>
              <a:rPr sz="1050" b="0" i="0">
                <a:solidFill>
                  <a:srgbClr val="5B6B86"/>
                </a:solidFill>
                <a:latin typeface="Courier New"/>
              </a:rPr>
              <a:t>config.py + cli.py</a:t>
            </a:r>
          </a:p>
        </p:txBody>
      </p:sp>
      <p:sp>
        <p:nvSpPr>
          <p:cNvPr id="15" name="TextBox 14"/>
          <p:cNvSpPr txBox="1"/>
          <p:nvPr/>
        </p:nvSpPr>
        <p:spPr>
          <a:xfrm>
            <a:off x="868680" y="5120640"/>
            <a:ext cx="4892040" cy="868680"/>
          </a:xfrm>
          <a:prstGeom prst="rect">
            <a:avLst/>
          </a:prstGeom>
          <a:noFill/>
        </p:spPr>
        <p:txBody>
          <a:bodyPr wrap="square" lIns="38100" tIns="25400" rIns="38100" bIns="25400">
            <a:spAutoFit/>
          </a:bodyPr>
          <a:lstStyle/>
          <a:p>
            <a:pPr marL="203200" indent="-203200">
              <a:spcAft>
                <a:spcPts val="300"/>
              </a:spcAft>
              <a:buFont typeface="Arial"/>
              <a:buChar char="•"/>
            </a:pPr>
            <a:r>
              <a:rPr sz="1250" b="0" i="0">
                <a:solidFill>
                  <a:srgbClr val="1F2A44"/>
                </a:solidFill>
                <a:latin typeface="Calibri"/>
              </a:rPr>
              <a:t>cost weights 1.0 / 2.0 / 0.5 / 1.5</a:t>
            </a:r>
          </a:p>
          <a:p>
            <a:pPr marL="203200" indent="-203200">
              <a:spcAft>
                <a:spcPts val="300"/>
              </a:spcAft>
              <a:buFont typeface="Arial"/>
              <a:buChar char="•"/>
            </a:pPr>
            <a:r>
              <a:rPr sz="1250" b="0" i="0">
                <a:solidFill>
                  <a:srgbClr val="1F2A44"/>
                </a:solidFill>
                <a:latin typeface="Calibri"/>
              </a:rPr>
              <a:t>aging 0.1 · zones = 3</a:t>
            </a:r>
          </a:p>
          <a:p>
            <a:pPr marL="203200" indent="-203200">
              <a:spcAft>
                <a:spcPts val="300"/>
              </a:spcAft>
              <a:buFont typeface="Arial"/>
              <a:buChar char="•"/>
            </a:pPr>
            <a:r>
              <a:rPr sz="1250" b="0" i="0">
                <a:solidFill>
                  <a:srgbClr val="1F2A44"/>
                </a:solidFill>
                <a:latin typeface="Calibri"/>
              </a:rPr>
              <a:t>1 tick ≈ 2 seconds</a:t>
            </a:r>
          </a:p>
        </p:txBody>
      </p:sp>
      <p:sp>
        <p:nvSpPr>
          <p:cNvPr id="16" name="Rounded Rectangle 15"/>
          <p:cNvSpPr/>
          <p:nvPr/>
        </p:nvSpPr>
        <p:spPr>
          <a:xfrm>
            <a:off x="6263640" y="1645920"/>
            <a:ext cx="5257800" cy="4526280"/>
          </a:xfrm>
          <a:prstGeom prst="roundRect">
            <a:avLst>
              <a:gd name="adj" fmla="val 5000"/>
            </a:avLst>
          </a:prstGeom>
          <a:solidFill>
            <a:srgbClr val="FBF7F0"/>
          </a:solidFill>
          <a:ln w="12700">
            <a:solidFill>
              <a:srgbClr val="EAD9B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37960" y="1828800"/>
            <a:ext cx="4754880" cy="365760"/>
          </a:xfrm>
          <a:prstGeom prst="rect">
            <a:avLst/>
          </a:prstGeom>
          <a:noFill/>
        </p:spPr>
        <p:txBody>
          <a:bodyPr wrap="square" lIns="38100" tIns="25400" rIns="38100" bIns="25400">
            <a:spAutoFit/>
          </a:bodyPr>
          <a:lstStyle/>
          <a:p>
            <a:r>
              <a:rPr sz="1550" b="1" i="0">
                <a:solidFill>
                  <a:srgbClr val="9A6A12"/>
                </a:solidFill>
                <a:latin typeface="Calibri"/>
              </a:rPr>
              <a:t>Deliberate simplifications</a:t>
            </a:r>
          </a:p>
        </p:txBody>
      </p:sp>
      <p:sp>
        <p:nvSpPr>
          <p:cNvPr id="18" name="TextBox 17"/>
          <p:cNvSpPr txBox="1"/>
          <p:nvPr/>
        </p:nvSpPr>
        <p:spPr>
          <a:xfrm>
            <a:off x="6537960" y="2286000"/>
            <a:ext cx="4800600" cy="3749039"/>
          </a:xfrm>
          <a:prstGeom prst="rect">
            <a:avLst/>
          </a:prstGeom>
          <a:noFill/>
        </p:spPr>
        <p:txBody>
          <a:bodyPr wrap="square" lIns="38100" tIns="25400" rIns="38100" bIns="25400">
            <a:spAutoFit/>
          </a:bodyPr>
          <a:lstStyle/>
          <a:p>
            <a:pPr marL="203200" indent="-203200">
              <a:spcAft>
                <a:spcPts val="1200"/>
              </a:spcAft>
              <a:buFont typeface="Arial"/>
              <a:buChar char="•"/>
            </a:pPr>
            <a:r>
              <a:rPr sz="1350" b="0" i="0">
                <a:solidFill>
                  <a:srgbClr val="1F2A44"/>
                </a:solidFill>
                <a:latin typeface="Calibri"/>
              </a:rPr>
              <a:t>Assignment is immediate + irrevocable (never re-routed once made).</a:t>
            </a:r>
          </a:p>
          <a:p>
            <a:pPr marL="203200" indent="-203200">
              <a:spcAft>
                <a:spcPts val="1200"/>
              </a:spcAft>
              <a:buFont typeface="Arial"/>
              <a:buChar char="•"/>
            </a:pPr>
            <a:r>
              <a:rPr sz="1350" b="0" i="0">
                <a:solidFill>
                  <a:srgbClr val="1F2A44"/>
                </a:solidFill>
                <a:latin typeface="Calibri"/>
              </a:rPr>
              <a:t>Dwell is a flat cost per stop (no per-passenger door time).</a:t>
            </a:r>
          </a:p>
          <a:p>
            <a:pPr marL="203200" indent="-203200">
              <a:spcAft>
                <a:spcPts val="1200"/>
              </a:spcAft>
              <a:buFont typeface="Arial"/>
              <a:buChar char="•"/>
            </a:pPr>
            <a:r>
              <a:rPr sz="1350" b="0" i="0">
                <a:solidFill>
                  <a:srgbClr val="1F2A44"/>
                </a:solidFill>
                <a:latin typeface="Calibri"/>
              </a:rPr>
              <a:t>All cars start at the lobby, every pattern (a small transient).</a:t>
            </a:r>
          </a:p>
          <a:p>
            <a:pPr marL="203200" indent="-203200">
              <a:spcAft>
                <a:spcPts val="1200"/>
              </a:spcAft>
              <a:buFont typeface="Arial"/>
              <a:buChar char="•"/>
            </a:pPr>
            <a:r>
              <a:rPr sz="1350" b="0" i="0">
                <a:solidFill>
                  <a:srgbClr val="1F2A44"/>
                </a:solidFill>
                <a:latin typeface="Calibri"/>
              </a:rPr>
              <a:t>Fungible fleet — any car serves any floor (zoning is software-only).</a:t>
            </a:r>
          </a:p>
          <a:p>
            <a:pPr marL="203200" indent="-203200">
              <a:spcAft>
                <a:spcPts val="1200"/>
              </a:spcAft>
              <a:buFont typeface="Arial"/>
              <a:buChar char="•"/>
            </a:pPr>
            <a:r>
              <a:rPr sz="1350" b="0" i="0">
                <a:solidFill>
                  <a:srgbClr val="1F2A44"/>
                </a:solidFill>
                <a:latin typeface="Calibri"/>
              </a:rPr>
              <a:t>No peek-ahead — the scheduler sees only requests that have arrived.</a:t>
            </a:r>
          </a:p>
          <a:p>
            <a:pPr marL="203200" indent="-203200">
              <a:spcAft>
                <a:spcPts val="1200"/>
              </a:spcAft>
              <a:buFont typeface="Arial"/>
              <a:buChar char="•"/>
            </a:pPr>
            <a:r>
              <a:rPr sz="1350" b="0" i="0">
                <a:solidFill>
                  <a:srgbClr val="1F2A44"/>
                </a:solidFill>
                <a:latin typeface="Calibri"/>
              </a:rPr>
              <a:t>Constant speed, 1 floor per tick (no acceleration).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WORKLOAD DETAIL</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Traffic patterns — three workloads</a:t>
            </a:r>
          </a:p>
        </p:txBody>
      </p:sp>
      <p:sp>
        <p:nvSpPr>
          <p:cNvPr id="4" name="TextBox 3"/>
          <p:cNvSpPr txBox="1"/>
          <p:nvPr/>
        </p:nvSpPr>
        <p:spPr>
          <a:xfrm>
            <a:off x="6766560" y="658368"/>
            <a:ext cx="4754880" cy="292608"/>
          </a:xfrm>
          <a:prstGeom prst="rect">
            <a:avLst/>
          </a:prstGeom>
          <a:noFill/>
        </p:spPr>
        <p:txBody>
          <a:bodyPr wrap="square" lIns="38100" tIns="25400" rIns="38100" bIns="25400" anchor="ctr">
            <a:spAutoFit/>
          </a:bodyPr>
          <a:lstStyle/>
          <a:p>
            <a:pPr algn="r"/>
            <a:r>
              <a:rPr sz="1050" b="0" i="1">
                <a:solidFill>
                  <a:srgbClr val="6B7280"/>
                </a:solidFill>
                <a:latin typeface="Calibri"/>
              </a:rPr>
              <a:t>defined in  </a:t>
            </a:r>
            <a:r>
              <a:rPr sz="1100" b="0" i="0">
                <a:solidFill>
                  <a:srgbClr val="5B6B86"/>
                </a:solidFill>
                <a:latin typeface="Courier New"/>
              </a:rPr>
              <a:t>generator.py · cli.py</a:t>
            </a:r>
          </a:p>
        </p:txBody>
      </p:sp>
      <p:sp>
        <p:nvSpPr>
          <p:cNvPr id="5" name="TextBox 4"/>
          <p:cNvSpPr txBox="1"/>
          <p:nvPr/>
        </p:nvSpPr>
        <p:spPr>
          <a:xfrm>
            <a:off x="640080" y="1371600"/>
            <a:ext cx="10881360" cy="292608"/>
          </a:xfrm>
          <a:prstGeom prst="rect">
            <a:avLst/>
          </a:prstGeom>
          <a:noFill/>
        </p:spPr>
        <p:txBody>
          <a:bodyPr wrap="square" lIns="38100" tIns="25400" rIns="38100" bIns="25400">
            <a:spAutoFit/>
          </a:bodyPr>
          <a:lstStyle/>
          <a:p>
            <a:r>
              <a:rPr sz="1200" b="0" i="1">
                <a:solidFill>
                  <a:srgbClr val="5B6B86"/>
                </a:solidFill>
                <a:latin typeface="Calibri"/>
              </a:rPr>
              <a:t>Same building &amp; λ; only origin/destination changes.   Uniform{a..b} = every floor in [a,b] equally likely (n = 25 floors).</a:t>
            </a:r>
          </a:p>
        </p:txBody>
      </p:sp>
      <p:sp>
        <p:nvSpPr>
          <p:cNvPr id="6" name="TextBox 5"/>
          <p:cNvSpPr txBox="1"/>
          <p:nvPr/>
        </p:nvSpPr>
        <p:spPr>
          <a:xfrm>
            <a:off x="868680" y="1755648"/>
            <a:ext cx="1828800" cy="274320"/>
          </a:xfrm>
          <a:prstGeom prst="rect">
            <a:avLst/>
          </a:prstGeom>
          <a:noFill/>
        </p:spPr>
        <p:txBody>
          <a:bodyPr wrap="square" lIns="38100" tIns="25400" rIns="38100" bIns="25400">
            <a:spAutoFit/>
          </a:bodyPr>
          <a:lstStyle/>
          <a:p>
            <a:r>
              <a:rPr sz="1050" b="1" i="0">
                <a:solidFill>
                  <a:srgbClr val="6B7280"/>
                </a:solidFill>
                <a:latin typeface="Calibri"/>
              </a:rPr>
              <a:t>PATTERN</a:t>
            </a:r>
          </a:p>
        </p:txBody>
      </p:sp>
      <p:sp>
        <p:nvSpPr>
          <p:cNvPr id="7" name="TextBox 6"/>
          <p:cNvSpPr txBox="1"/>
          <p:nvPr/>
        </p:nvSpPr>
        <p:spPr>
          <a:xfrm>
            <a:off x="2880360" y="1755648"/>
            <a:ext cx="1828800" cy="274320"/>
          </a:xfrm>
          <a:prstGeom prst="rect">
            <a:avLst/>
          </a:prstGeom>
          <a:noFill/>
        </p:spPr>
        <p:txBody>
          <a:bodyPr wrap="square" lIns="38100" tIns="25400" rIns="38100" bIns="25400">
            <a:spAutoFit/>
          </a:bodyPr>
          <a:lstStyle/>
          <a:p>
            <a:r>
              <a:rPr sz="1050" b="1" i="0">
                <a:solidFill>
                  <a:srgbClr val="6B7280"/>
                </a:solidFill>
                <a:latin typeface="Calibri"/>
              </a:rPr>
              <a:t>WHEN</a:t>
            </a:r>
          </a:p>
        </p:txBody>
      </p:sp>
      <p:sp>
        <p:nvSpPr>
          <p:cNvPr id="8" name="TextBox 7"/>
          <p:cNvSpPr txBox="1"/>
          <p:nvPr/>
        </p:nvSpPr>
        <p:spPr>
          <a:xfrm>
            <a:off x="4892040" y="1755648"/>
            <a:ext cx="2926080" cy="274320"/>
          </a:xfrm>
          <a:prstGeom prst="rect">
            <a:avLst/>
          </a:prstGeom>
          <a:noFill/>
        </p:spPr>
        <p:txBody>
          <a:bodyPr wrap="square" lIns="38100" tIns="25400" rIns="38100" bIns="25400">
            <a:spAutoFit/>
          </a:bodyPr>
          <a:lstStyle/>
          <a:p>
            <a:r>
              <a:rPr sz="1050" b="1" i="0">
                <a:solidFill>
                  <a:srgbClr val="6B7280"/>
                </a:solidFill>
                <a:latin typeface="Calibri"/>
              </a:rPr>
              <a:t>SOURCE  (pickup)</a:t>
            </a:r>
          </a:p>
        </p:txBody>
      </p:sp>
      <p:sp>
        <p:nvSpPr>
          <p:cNvPr id="9" name="TextBox 8"/>
          <p:cNvSpPr txBox="1"/>
          <p:nvPr/>
        </p:nvSpPr>
        <p:spPr>
          <a:xfrm>
            <a:off x="8001000" y="1755648"/>
            <a:ext cx="3108960" cy="274320"/>
          </a:xfrm>
          <a:prstGeom prst="rect">
            <a:avLst/>
          </a:prstGeom>
          <a:noFill/>
        </p:spPr>
        <p:txBody>
          <a:bodyPr wrap="square" lIns="38100" tIns="25400" rIns="38100" bIns="25400">
            <a:spAutoFit/>
          </a:bodyPr>
          <a:lstStyle/>
          <a:p>
            <a:r>
              <a:rPr sz="1050" b="1" i="0">
                <a:solidFill>
                  <a:srgbClr val="6B7280"/>
                </a:solidFill>
                <a:latin typeface="Calibri"/>
              </a:rPr>
              <a:t>DEST  (dropoff)</a:t>
            </a:r>
          </a:p>
        </p:txBody>
      </p:sp>
      <p:sp>
        <p:nvSpPr>
          <p:cNvPr id="10" name="Rounded Rectangle 9"/>
          <p:cNvSpPr/>
          <p:nvPr/>
        </p:nvSpPr>
        <p:spPr>
          <a:xfrm>
            <a:off x="640080" y="2084831"/>
            <a:ext cx="10881360" cy="100584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868680" y="2359151"/>
            <a:ext cx="1783080" cy="457200"/>
          </a:xfrm>
          <a:prstGeom prst="roundRect">
            <a:avLst>
              <a:gd name="adj" fmla="val 10000"/>
            </a:avLst>
          </a:prstGeom>
          <a:solidFill>
            <a:srgbClr val="E08A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68680" y="2359151"/>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up_peak</a:t>
            </a:r>
          </a:p>
        </p:txBody>
      </p:sp>
      <p:sp>
        <p:nvSpPr>
          <p:cNvPr id="13" name="TextBox 12"/>
          <p:cNvSpPr txBox="1"/>
          <p:nvPr/>
        </p:nvSpPr>
        <p:spPr>
          <a:xfrm>
            <a:off x="2880360" y="2084831"/>
            <a:ext cx="1874519" cy="1005840"/>
          </a:xfrm>
          <a:prstGeom prst="rect">
            <a:avLst/>
          </a:prstGeom>
          <a:noFill/>
        </p:spPr>
        <p:txBody>
          <a:bodyPr wrap="square" lIns="38100" tIns="25400" rIns="38100" bIns="25400" anchor="ctr">
            <a:spAutoFit/>
          </a:bodyPr>
          <a:lstStyle/>
          <a:p>
            <a:r>
              <a:rPr sz="1250" b="1" i="0">
                <a:solidFill>
                  <a:srgbClr val="1F2A44"/>
                </a:solidFill>
                <a:latin typeface="Calibri"/>
              </a:rPr>
              <a:t>↑  morning rush</a:t>
            </a:r>
          </a:p>
        </p:txBody>
      </p:sp>
      <p:sp>
        <p:nvSpPr>
          <p:cNvPr id="14" name="TextBox 13"/>
          <p:cNvSpPr txBox="1"/>
          <p:nvPr/>
        </p:nvSpPr>
        <p:spPr>
          <a:xfrm>
            <a:off x="4892040" y="2084831"/>
            <a:ext cx="3017520" cy="1005840"/>
          </a:xfrm>
          <a:prstGeom prst="rect">
            <a:avLst/>
          </a:prstGeom>
          <a:noFill/>
        </p:spPr>
        <p:txBody>
          <a:bodyPr wrap="square" lIns="38100" tIns="25400" rIns="38100" bIns="25400" anchor="ctr">
            <a:spAutoFit/>
          </a:bodyPr>
          <a:lstStyle/>
          <a:p>
            <a:r>
              <a:rPr sz="1250" b="0" i="0">
                <a:solidFill>
                  <a:srgbClr val="1E2761"/>
                </a:solidFill>
                <a:latin typeface="Courier New"/>
              </a:rPr>
              <a:t>1  (lobby, fixed)</a:t>
            </a:r>
          </a:p>
        </p:txBody>
      </p:sp>
      <p:sp>
        <p:nvSpPr>
          <p:cNvPr id="15" name="TextBox 14"/>
          <p:cNvSpPr txBox="1"/>
          <p:nvPr/>
        </p:nvSpPr>
        <p:spPr>
          <a:xfrm>
            <a:off x="8001000" y="2084831"/>
            <a:ext cx="3383280" cy="1005840"/>
          </a:xfrm>
          <a:prstGeom prst="rect">
            <a:avLst/>
          </a:prstGeom>
          <a:noFill/>
        </p:spPr>
        <p:txBody>
          <a:bodyPr wrap="square" lIns="38100" tIns="25400" rIns="38100" bIns="25400" anchor="ctr">
            <a:spAutoFit/>
          </a:bodyPr>
          <a:lstStyle/>
          <a:p>
            <a:r>
              <a:rPr sz="1250" b="0" i="0">
                <a:solidFill>
                  <a:srgbClr val="1E2761"/>
                </a:solidFill>
                <a:latin typeface="Courier New"/>
              </a:rPr>
              <a:t>Uniform{2..n}</a:t>
            </a:r>
          </a:p>
        </p:txBody>
      </p:sp>
      <p:sp>
        <p:nvSpPr>
          <p:cNvPr id="16" name="Rounded Rectangle 15"/>
          <p:cNvSpPr/>
          <p:nvPr/>
        </p:nvSpPr>
        <p:spPr>
          <a:xfrm>
            <a:off x="640080" y="3200400"/>
            <a:ext cx="10881360" cy="100584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868680" y="3474720"/>
            <a:ext cx="1783080" cy="457200"/>
          </a:xfrm>
          <a:prstGeom prst="roundRect">
            <a:avLst>
              <a:gd name="adj" fmla="val 10000"/>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68680" y="3474720"/>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down_peak</a:t>
            </a:r>
          </a:p>
        </p:txBody>
      </p:sp>
      <p:sp>
        <p:nvSpPr>
          <p:cNvPr id="19" name="TextBox 18"/>
          <p:cNvSpPr txBox="1"/>
          <p:nvPr/>
        </p:nvSpPr>
        <p:spPr>
          <a:xfrm>
            <a:off x="2880360" y="3200400"/>
            <a:ext cx="1874519" cy="1005840"/>
          </a:xfrm>
          <a:prstGeom prst="rect">
            <a:avLst/>
          </a:prstGeom>
          <a:noFill/>
        </p:spPr>
        <p:txBody>
          <a:bodyPr wrap="square" lIns="38100" tIns="25400" rIns="38100" bIns="25400" anchor="ctr">
            <a:spAutoFit/>
          </a:bodyPr>
          <a:lstStyle/>
          <a:p>
            <a:r>
              <a:rPr sz="1250" b="1" i="0">
                <a:solidFill>
                  <a:srgbClr val="1F2A44"/>
                </a:solidFill>
                <a:latin typeface="Calibri"/>
              </a:rPr>
              <a:t>↓  evening exodus</a:t>
            </a:r>
          </a:p>
        </p:txBody>
      </p:sp>
      <p:sp>
        <p:nvSpPr>
          <p:cNvPr id="20" name="TextBox 19"/>
          <p:cNvSpPr txBox="1"/>
          <p:nvPr/>
        </p:nvSpPr>
        <p:spPr>
          <a:xfrm>
            <a:off x="4892040" y="3200400"/>
            <a:ext cx="3017520" cy="1005840"/>
          </a:xfrm>
          <a:prstGeom prst="rect">
            <a:avLst/>
          </a:prstGeom>
          <a:noFill/>
        </p:spPr>
        <p:txBody>
          <a:bodyPr wrap="square" lIns="38100" tIns="25400" rIns="38100" bIns="25400" anchor="ctr">
            <a:spAutoFit/>
          </a:bodyPr>
          <a:lstStyle/>
          <a:p>
            <a:r>
              <a:rPr sz="1250" b="0" i="0">
                <a:solidFill>
                  <a:srgbClr val="1E2761"/>
                </a:solidFill>
                <a:latin typeface="Courier New"/>
              </a:rPr>
              <a:t>Uniform{2..n}</a:t>
            </a:r>
          </a:p>
        </p:txBody>
      </p:sp>
      <p:sp>
        <p:nvSpPr>
          <p:cNvPr id="21" name="TextBox 20"/>
          <p:cNvSpPr txBox="1"/>
          <p:nvPr/>
        </p:nvSpPr>
        <p:spPr>
          <a:xfrm>
            <a:off x="8001000" y="3200400"/>
            <a:ext cx="3383280" cy="1005840"/>
          </a:xfrm>
          <a:prstGeom prst="rect">
            <a:avLst/>
          </a:prstGeom>
          <a:noFill/>
        </p:spPr>
        <p:txBody>
          <a:bodyPr wrap="square" lIns="38100" tIns="25400" rIns="38100" bIns="25400" anchor="ctr">
            <a:spAutoFit/>
          </a:bodyPr>
          <a:lstStyle/>
          <a:p>
            <a:r>
              <a:rPr sz="1250" b="0" i="0">
                <a:solidFill>
                  <a:srgbClr val="1E2761"/>
                </a:solidFill>
                <a:latin typeface="Courier New"/>
              </a:rPr>
              <a:t>1  (lobby, fixed)</a:t>
            </a:r>
          </a:p>
        </p:txBody>
      </p:sp>
      <p:sp>
        <p:nvSpPr>
          <p:cNvPr id="22" name="Rounded Rectangle 21"/>
          <p:cNvSpPr/>
          <p:nvPr/>
        </p:nvSpPr>
        <p:spPr>
          <a:xfrm>
            <a:off x="640080" y="4315968"/>
            <a:ext cx="10881360" cy="100584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ounded Rectangle 22"/>
          <p:cNvSpPr/>
          <p:nvPr/>
        </p:nvSpPr>
        <p:spPr>
          <a:xfrm>
            <a:off x="868680" y="4590288"/>
            <a:ext cx="1783080" cy="457200"/>
          </a:xfrm>
          <a:prstGeom prst="roundRect">
            <a:avLst>
              <a:gd name="adj" fmla="val 10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68680" y="4590288"/>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uniform</a:t>
            </a:r>
          </a:p>
        </p:txBody>
      </p:sp>
      <p:sp>
        <p:nvSpPr>
          <p:cNvPr id="25" name="TextBox 24"/>
          <p:cNvSpPr txBox="1"/>
          <p:nvPr/>
        </p:nvSpPr>
        <p:spPr>
          <a:xfrm>
            <a:off x="2880360" y="4315968"/>
            <a:ext cx="1874519" cy="1005840"/>
          </a:xfrm>
          <a:prstGeom prst="rect">
            <a:avLst/>
          </a:prstGeom>
          <a:noFill/>
        </p:spPr>
        <p:txBody>
          <a:bodyPr wrap="square" lIns="38100" tIns="25400" rIns="38100" bIns="25400" anchor="ctr">
            <a:spAutoFit/>
          </a:bodyPr>
          <a:lstStyle/>
          <a:p>
            <a:r>
              <a:rPr sz="1250" b="1" i="0">
                <a:solidFill>
                  <a:srgbClr val="1F2A44"/>
                </a:solidFill>
                <a:latin typeface="Calibri"/>
              </a:rPr>
              <a:t>↕  midday interfloor</a:t>
            </a:r>
          </a:p>
        </p:txBody>
      </p:sp>
      <p:sp>
        <p:nvSpPr>
          <p:cNvPr id="26" name="TextBox 25"/>
          <p:cNvSpPr txBox="1"/>
          <p:nvPr/>
        </p:nvSpPr>
        <p:spPr>
          <a:xfrm>
            <a:off x="4892040" y="4315968"/>
            <a:ext cx="3017520" cy="1005840"/>
          </a:xfrm>
          <a:prstGeom prst="rect">
            <a:avLst/>
          </a:prstGeom>
          <a:noFill/>
        </p:spPr>
        <p:txBody>
          <a:bodyPr wrap="square" lIns="38100" tIns="25400" rIns="38100" bIns="25400" anchor="ctr">
            <a:spAutoFit/>
          </a:bodyPr>
          <a:lstStyle/>
          <a:p>
            <a:r>
              <a:rPr sz="1250" b="0" i="0">
                <a:solidFill>
                  <a:srgbClr val="1E2761"/>
                </a:solidFill>
                <a:latin typeface="Courier New"/>
              </a:rPr>
              <a:t>Uniform{1..n}</a:t>
            </a:r>
          </a:p>
        </p:txBody>
      </p:sp>
      <p:sp>
        <p:nvSpPr>
          <p:cNvPr id="27" name="TextBox 26"/>
          <p:cNvSpPr txBox="1"/>
          <p:nvPr/>
        </p:nvSpPr>
        <p:spPr>
          <a:xfrm>
            <a:off x="8001000" y="4315968"/>
            <a:ext cx="3383280" cy="1005840"/>
          </a:xfrm>
          <a:prstGeom prst="rect">
            <a:avLst/>
          </a:prstGeom>
          <a:noFill/>
        </p:spPr>
        <p:txBody>
          <a:bodyPr wrap="square" lIns="38100" tIns="25400" rIns="38100" bIns="25400" anchor="ctr">
            <a:spAutoFit/>
          </a:bodyPr>
          <a:lstStyle/>
          <a:p>
            <a:r>
              <a:rPr sz="1250" b="0" i="0">
                <a:solidFill>
                  <a:srgbClr val="1E2761"/>
                </a:solidFill>
                <a:latin typeface="Courier New"/>
              </a:rPr>
              <a:t>Uniform{1..n}  (≠ source)</a:t>
            </a:r>
          </a:p>
        </p:txBody>
      </p:sp>
      <p:sp>
        <p:nvSpPr>
          <p:cNvPr id="28" name="Rounded Rectangle 27"/>
          <p:cNvSpPr/>
          <p:nvPr/>
        </p:nvSpPr>
        <p:spPr>
          <a:xfrm>
            <a:off x="640080" y="5623560"/>
            <a:ext cx="10881360" cy="868680"/>
          </a:xfrm>
          <a:prstGeom prst="roundRect">
            <a:avLst>
              <a:gd name="adj" fmla="val 7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914400" y="5623560"/>
            <a:ext cx="10332720" cy="868680"/>
          </a:xfrm>
          <a:prstGeom prst="rect">
            <a:avLst/>
          </a:prstGeom>
          <a:noFill/>
        </p:spPr>
        <p:txBody>
          <a:bodyPr wrap="square" lIns="38100" tIns="25400" rIns="38100" bIns="25400" anchor="ctr">
            <a:spAutoFit/>
          </a:bodyPr>
          <a:lstStyle/>
          <a:p>
            <a:r>
              <a:rPr sz="1350" b="1" i="0">
                <a:solidFill>
                  <a:srgbClr val="F5A623"/>
                </a:solidFill>
                <a:latin typeface="Calibri"/>
              </a:rPr>
              <a:t>Only origin/destination changes</a:t>
            </a:r>
            <a:r>
              <a:rPr sz="1350" b="0" i="0">
                <a:solidFill>
                  <a:srgbClr val="FFFFFF"/>
                </a:solidFill>
                <a:latin typeface="Calibri"/>
              </a:rPr>
              <a:t> — λ, seed, and the building are held constant. This is exactly why the best dispatch policy flips by pattern (→ Results): position discriminates cars only when pickup floors vary.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DATA MODEL</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models.py — the domain “nouns” (pure data)</a:t>
            </a:r>
          </a:p>
        </p:txBody>
      </p:sp>
      <p:sp>
        <p:nvSpPr>
          <p:cNvPr id="4" name="TextBox 3"/>
          <p:cNvSpPr txBox="1"/>
          <p:nvPr/>
        </p:nvSpPr>
        <p:spPr>
          <a:xfrm>
            <a:off x="640080" y="1371600"/>
            <a:ext cx="10881360" cy="320040"/>
          </a:xfrm>
          <a:prstGeom prst="rect">
            <a:avLst/>
          </a:prstGeom>
          <a:noFill/>
        </p:spPr>
        <p:txBody>
          <a:bodyPr wrap="square" lIns="38100" tIns="25400" rIns="38100" bIns="25400">
            <a:spAutoFit/>
          </a:bodyPr>
          <a:lstStyle/>
          <a:p>
            <a:r>
              <a:rPr sz="1300" b="0" i="1">
                <a:solidFill>
                  <a:srgbClr val="5B6B86"/>
                </a:solidFill>
                <a:latin typeface="Calibri"/>
              </a:rPr>
              <a:t>Pure data types; all behaviour lives in the engine and policies.</a:t>
            </a:r>
          </a:p>
        </p:txBody>
      </p:sp>
      <p:sp>
        <p:nvSpPr>
          <p:cNvPr id="5" name="Rounded Rectangle 4"/>
          <p:cNvSpPr/>
          <p:nvPr/>
        </p:nvSpPr>
        <p:spPr>
          <a:xfrm>
            <a:off x="640080" y="1783080"/>
            <a:ext cx="5257800" cy="13716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868680" y="1965960"/>
            <a:ext cx="1783080" cy="457200"/>
          </a:xfrm>
          <a:prstGeom prst="roundRect">
            <a:avLst>
              <a:gd name="adj" fmla="val 10000"/>
            </a:avLst>
          </a:prstGeom>
          <a:solidFill>
            <a:srgbClr val="5B6B8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68680" y="1965960"/>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Request</a:t>
            </a:r>
          </a:p>
        </p:txBody>
      </p:sp>
      <p:sp>
        <p:nvSpPr>
          <p:cNvPr id="8" name="TextBox 7"/>
          <p:cNvSpPr txBox="1"/>
          <p:nvPr/>
        </p:nvSpPr>
        <p:spPr>
          <a:xfrm>
            <a:off x="2761487" y="1965960"/>
            <a:ext cx="2926080" cy="457200"/>
          </a:xfrm>
          <a:prstGeom prst="rect">
            <a:avLst/>
          </a:prstGeom>
          <a:noFill/>
        </p:spPr>
        <p:txBody>
          <a:bodyPr wrap="square" lIns="38100" tIns="25400" rIns="38100" bIns="25400" anchor="ctr">
            <a:spAutoFit/>
          </a:bodyPr>
          <a:lstStyle/>
          <a:p>
            <a:r>
              <a:rPr sz="1050" b="0" i="1">
                <a:solidFill>
                  <a:srgbClr val="6B7280"/>
                </a:solidFill>
                <a:latin typeface="Calibri"/>
              </a:rPr>
              <a:t>frozen · immutable</a:t>
            </a:r>
          </a:p>
        </p:txBody>
      </p:sp>
      <p:sp>
        <p:nvSpPr>
          <p:cNvPr id="9" name="TextBox 8"/>
          <p:cNvSpPr txBox="1"/>
          <p:nvPr/>
        </p:nvSpPr>
        <p:spPr>
          <a:xfrm>
            <a:off x="896112" y="2496312"/>
            <a:ext cx="4754880" cy="320040"/>
          </a:xfrm>
          <a:prstGeom prst="rect">
            <a:avLst/>
          </a:prstGeom>
          <a:noFill/>
        </p:spPr>
        <p:txBody>
          <a:bodyPr wrap="square" lIns="38100" tIns="25400" rIns="38100" bIns="25400">
            <a:spAutoFit/>
          </a:bodyPr>
          <a:lstStyle/>
          <a:p>
            <a:r>
              <a:rPr sz="1150" b="0" i="0">
                <a:solidFill>
                  <a:srgbClr val="1F2A44"/>
                </a:solidFill>
                <a:latin typeface="Calibri"/>
              </a:rPr>
              <a:t>one per arrival — the raw request</a:t>
            </a:r>
          </a:p>
        </p:txBody>
      </p:sp>
      <p:sp>
        <p:nvSpPr>
          <p:cNvPr id="10" name="TextBox 9"/>
          <p:cNvSpPr txBox="1"/>
          <p:nvPr/>
        </p:nvSpPr>
        <p:spPr>
          <a:xfrm>
            <a:off x="896112" y="2843784"/>
            <a:ext cx="4754880" cy="201168"/>
          </a:xfrm>
          <a:prstGeom prst="rect">
            <a:avLst/>
          </a:prstGeom>
          <a:noFill/>
        </p:spPr>
        <p:txBody>
          <a:bodyPr wrap="square" lIns="38100" tIns="25400" rIns="38100" bIns="25400">
            <a:spAutoFit/>
          </a:bodyPr>
          <a:lstStyle/>
          <a:p>
            <a:pPr>
              <a:spcAft>
                <a:spcPts val="400"/>
              </a:spcAft>
            </a:pPr>
            <a:r>
              <a:rPr sz="1050" b="1" i="0">
                <a:solidFill>
                  <a:srgbClr val="5B6B86"/>
                </a:solidFill>
                <a:latin typeface="Calibri"/>
              </a:rPr>
              <a:t>fields   </a:t>
            </a:r>
            <a:r>
              <a:rPr sz="1050" b="0" i="0">
                <a:solidFill>
                  <a:srgbClr val="1F2A44"/>
                </a:solidFill>
                <a:latin typeface="Courier New"/>
              </a:rPr>
              <a:t>id · submit_tick · source · dest</a:t>
            </a:r>
          </a:p>
          <a:p>
            <a:pPr>
              <a:spcAft>
                <a:spcPts val="400"/>
              </a:spcAft>
            </a:pPr>
            <a:r>
              <a:rPr sz="1050" b="1" i="0">
                <a:solidFill>
                  <a:srgbClr val="5B6B86"/>
                </a:solidFill>
                <a:latin typeface="Calibri"/>
              </a:rPr>
              <a:t>derived   </a:t>
            </a:r>
            <a:r>
              <a:rPr sz="1050" b="0" i="0">
                <a:solidFill>
                  <a:srgbClr val="1F2A44"/>
                </a:solidFill>
                <a:latin typeface="Courier New"/>
              </a:rPr>
              <a:t>direction · distance</a:t>
            </a:r>
          </a:p>
        </p:txBody>
      </p:sp>
      <p:sp>
        <p:nvSpPr>
          <p:cNvPr id="11" name="Rounded Rectangle 10"/>
          <p:cNvSpPr/>
          <p:nvPr/>
        </p:nvSpPr>
        <p:spPr>
          <a:xfrm>
            <a:off x="640080" y="3291840"/>
            <a:ext cx="5257800" cy="178308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868680" y="3474720"/>
            <a:ext cx="1783080" cy="457200"/>
          </a:xfrm>
          <a:prstGeom prst="roundRect">
            <a:avLst>
              <a:gd name="adj" fmla="val 10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68680" y="3474720"/>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Passenger</a:t>
            </a:r>
          </a:p>
        </p:txBody>
      </p:sp>
      <p:sp>
        <p:nvSpPr>
          <p:cNvPr id="14" name="TextBox 13"/>
          <p:cNvSpPr txBox="1"/>
          <p:nvPr/>
        </p:nvSpPr>
        <p:spPr>
          <a:xfrm>
            <a:off x="2761487" y="3474720"/>
            <a:ext cx="2926080" cy="457200"/>
          </a:xfrm>
          <a:prstGeom prst="rect">
            <a:avLst/>
          </a:prstGeom>
          <a:noFill/>
        </p:spPr>
        <p:txBody>
          <a:bodyPr wrap="square" lIns="38100" tIns="25400" rIns="38100" bIns="25400" anchor="ctr">
            <a:spAutoFit/>
          </a:bodyPr>
          <a:lstStyle/>
          <a:p>
            <a:r>
              <a:rPr sz="1050" b="0" i="1">
                <a:solidFill>
                  <a:srgbClr val="6B7280"/>
                </a:solidFill>
                <a:latin typeface="Calibri"/>
              </a:rPr>
              <a:t>wraps a Request</a:t>
            </a:r>
          </a:p>
        </p:txBody>
      </p:sp>
      <p:sp>
        <p:nvSpPr>
          <p:cNvPr id="15" name="TextBox 14"/>
          <p:cNvSpPr txBox="1"/>
          <p:nvPr/>
        </p:nvSpPr>
        <p:spPr>
          <a:xfrm>
            <a:off x="896112" y="4005072"/>
            <a:ext cx="4754880" cy="320040"/>
          </a:xfrm>
          <a:prstGeom prst="rect">
            <a:avLst/>
          </a:prstGeom>
          <a:noFill/>
        </p:spPr>
        <p:txBody>
          <a:bodyPr wrap="square" lIns="38100" tIns="25400" rIns="38100" bIns="25400">
            <a:spAutoFit/>
          </a:bodyPr>
          <a:lstStyle/>
          <a:p>
            <a:r>
              <a:rPr sz="1150" b="0" i="0">
                <a:solidFill>
                  <a:srgbClr val="1F2A44"/>
                </a:solidFill>
                <a:latin typeface="Calibri"/>
              </a:rPr>
              <a:t>the request's lifecycle + timing</a:t>
            </a:r>
          </a:p>
        </p:txBody>
      </p:sp>
      <p:sp>
        <p:nvSpPr>
          <p:cNvPr id="16" name="TextBox 15"/>
          <p:cNvSpPr txBox="1"/>
          <p:nvPr/>
        </p:nvSpPr>
        <p:spPr>
          <a:xfrm>
            <a:off x="896112" y="4352544"/>
            <a:ext cx="4754880" cy="612648"/>
          </a:xfrm>
          <a:prstGeom prst="rect">
            <a:avLst/>
          </a:prstGeom>
          <a:noFill/>
        </p:spPr>
        <p:txBody>
          <a:bodyPr wrap="square" lIns="38100" tIns="25400" rIns="38100" bIns="25400">
            <a:spAutoFit/>
          </a:bodyPr>
          <a:lstStyle/>
          <a:p>
            <a:pPr>
              <a:spcAft>
                <a:spcPts val="400"/>
              </a:spcAft>
            </a:pPr>
            <a:r>
              <a:rPr sz="1050" b="1" i="0">
                <a:solidFill>
                  <a:srgbClr val="5B6B86"/>
                </a:solidFill>
                <a:latin typeface="Calibri"/>
              </a:rPr>
              <a:t>adds   </a:t>
            </a:r>
            <a:r>
              <a:rPr sz="1050" b="0" i="0">
                <a:solidFill>
                  <a:srgbClr val="1F2A44"/>
                </a:solidFill>
                <a:latin typeface="Courier New"/>
              </a:rPr>
              <a:t>assigned_elevator · pickup · dropoff</a:t>
            </a:r>
          </a:p>
          <a:p>
            <a:pPr>
              <a:spcAft>
                <a:spcPts val="400"/>
              </a:spcAft>
            </a:pPr>
            <a:r>
              <a:rPr sz="1050" b="1" i="0">
                <a:solidFill>
                  <a:srgbClr val="5B6B86"/>
                </a:solidFill>
                <a:latin typeface="Calibri"/>
              </a:rPr>
              <a:t>derived   </a:t>
            </a:r>
            <a:r>
              <a:rPr sz="1050" b="0" i="0">
                <a:solidFill>
                  <a:srgbClr val="1F2A44"/>
                </a:solidFill>
                <a:latin typeface="Courier New"/>
              </a:rPr>
              <a:t>wait · travel · total · state</a:t>
            </a:r>
          </a:p>
        </p:txBody>
      </p:sp>
      <p:sp>
        <p:nvSpPr>
          <p:cNvPr id="17" name="Rounded Rectangle 16"/>
          <p:cNvSpPr/>
          <p:nvPr/>
        </p:nvSpPr>
        <p:spPr>
          <a:xfrm>
            <a:off x="6263640" y="1783080"/>
            <a:ext cx="5257800" cy="18288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6492240" y="1965960"/>
            <a:ext cx="1783080" cy="457200"/>
          </a:xfrm>
          <a:prstGeom prst="roundRect">
            <a:avLst>
              <a:gd name="adj" fmla="val 1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492240" y="1965960"/>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Elevator</a:t>
            </a:r>
          </a:p>
        </p:txBody>
      </p:sp>
      <p:sp>
        <p:nvSpPr>
          <p:cNvPr id="20" name="TextBox 19"/>
          <p:cNvSpPr txBox="1"/>
          <p:nvPr/>
        </p:nvSpPr>
        <p:spPr>
          <a:xfrm>
            <a:off x="6519672" y="2496312"/>
            <a:ext cx="4754880" cy="320040"/>
          </a:xfrm>
          <a:prstGeom prst="rect">
            <a:avLst/>
          </a:prstGeom>
          <a:noFill/>
        </p:spPr>
        <p:txBody>
          <a:bodyPr wrap="square" lIns="38100" tIns="25400" rIns="38100" bIns="25400">
            <a:spAutoFit/>
          </a:bodyPr>
          <a:lstStyle/>
          <a:p>
            <a:r>
              <a:rPr sz="1150" b="0" i="0">
                <a:solidFill>
                  <a:srgbClr val="1F2A44"/>
                </a:solidFill>
                <a:latin typeface="Calibri"/>
              </a:rPr>
              <a:t>a car's live runtime state</a:t>
            </a:r>
          </a:p>
        </p:txBody>
      </p:sp>
      <p:sp>
        <p:nvSpPr>
          <p:cNvPr id="21" name="TextBox 20"/>
          <p:cNvSpPr txBox="1"/>
          <p:nvPr/>
        </p:nvSpPr>
        <p:spPr>
          <a:xfrm>
            <a:off x="6519672" y="2843784"/>
            <a:ext cx="4754880" cy="658368"/>
          </a:xfrm>
          <a:prstGeom prst="rect">
            <a:avLst/>
          </a:prstGeom>
          <a:noFill/>
        </p:spPr>
        <p:txBody>
          <a:bodyPr wrap="square" lIns="38100" tIns="25400" rIns="38100" bIns="25400">
            <a:spAutoFit/>
          </a:bodyPr>
          <a:lstStyle/>
          <a:p>
            <a:pPr>
              <a:spcAft>
                <a:spcPts val="400"/>
              </a:spcAft>
            </a:pPr>
            <a:r>
              <a:rPr sz="1050" b="1" i="0">
                <a:solidFill>
                  <a:srgbClr val="5B6B86"/>
                </a:solidFill>
                <a:latin typeface="Calibri"/>
              </a:rPr>
              <a:t>state   </a:t>
            </a:r>
            <a:r>
              <a:rPr sz="1050" b="0" i="0">
                <a:solidFill>
                  <a:srgbClr val="1F2A44"/>
                </a:solidFill>
                <a:latin typeface="Courier New"/>
              </a:rPr>
              <a:t>current_floor · direction · state</a:t>
            </a:r>
          </a:p>
          <a:p>
            <a:pPr>
              <a:spcAft>
                <a:spcPts val="400"/>
              </a:spcAft>
            </a:pPr>
            <a:r>
              <a:rPr sz="1050" b="1" i="0">
                <a:solidFill>
                  <a:srgbClr val="5B6B86"/>
                </a:solidFill>
                <a:latin typeface="Calibri"/>
              </a:rPr>
              <a:t>holds   </a:t>
            </a:r>
            <a:r>
              <a:rPr sz="1050" b="0" i="0">
                <a:solidFill>
                  <a:srgbClr val="1F2A44"/>
                </a:solidFill>
                <a:latin typeface="Courier New"/>
              </a:rPr>
              <a:t>onboard[] · targets{} · capacity · dwell</a:t>
            </a:r>
          </a:p>
          <a:p>
            <a:pPr>
              <a:spcAft>
                <a:spcPts val="400"/>
              </a:spcAft>
            </a:pPr>
            <a:r>
              <a:rPr sz="1050" b="1" i="0">
                <a:solidFill>
                  <a:srgbClr val="5B6B86"/>
                </a:solidFill>
                <a:latin typeface="Calibri"/>
              </a:rPr>
              <a:t>methods   </a:t>
            </a:r>
            <a:r>
              <a:rPr sz="1050" b="0" i="0">
                <a:solidFill>
                  <a:srgbClr val="1F2A44"/>
                </a:solidFill>
                <a:latin typeface="Courier New"/>
              </a:rPr>
              <a:t>is_full() · free_slots</a:t>
            </a:r>
          </a:p>
        </p:txBody>
      </p:sp>
      <p:sp>
        <p:nvSpPr>
          <p:cNvPr id="22" name="Rounded Rectangle 21"/>
          <p:cNvSpPr/>
          <p:nvPr/>
        </p:nvSpPr>
        <p:spPr>
          <a:xfrm>
            <a:off x="6263640" y="3749039"/>
            <a:ext cx="5257800" cy="132588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ounded Rectangle 22"/>
          <p:cNvSpPr/>
          <p:nvPr/>
        </p:nvSpPr>
        <p:spPr>
          <a:xfrm>
            <a:off x="6492240" y="3931920"/>
            <a:ext cx="1783080" cy="457200"/>
          </a:xfrm>
          <a:prstGeom prst="roundRect">
            <a:avLst>
              <a:gd name="adj" fmla="val 10000"/>
            </a:avLst>
          </a:prstGeom>
          <a:solidFill>
            <a:srgbClr val="8A6D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492240" y="3931920"/>
            <a:ext cx="1783080" cy="457200"/>
          </a:xfrm>
          <a:prstGeom prst="rect">
            <a:avLst/>
          </a:prstGeom>
          <a:noFill/>
        </p:spPr>
        <p:txBody>
          <a:bodyPr wrap="square" lIns="38100" tIns="25400" rIns="38100" bIns="25400" anchor="ctr">
            <a:spAutoFit/>
          </a:bodyPr>
          <a:lstStyle/>
          <a:p>
            <a:pPr algn="ctr"/>
            <a:r>
              <a:rPr sz="1300" b="1" i="0">
                <a:solidFill>
                  <a:srgbClr val="FFFFFF"/>
                </a:solidFill>
                <a:latin typeface="Courier New"/>
              </a:rPr>
              <a:t>Enums</a:t>
            </a:r>
          </a:p>
        </p:txBody>
      </p:sp>
      <p:sp>
        <p:nvSpPr>
          <p:cNvPr id="25" name="TextBox 24"/>
          <p:cNvSpPr txBox="1"/>
          <p:nvPr/>
        </p:nvSpPr>
        <p:spPr>
          <a:xfrm>
            <a:off x="6519672" y="4498848"/>
            <a:ext cx="4754880" cy="466343"/>
          </a:xfrm>
          <a:prstGeom prst="rect">
            <a:avLst/>
          </a:prstGeom>
          <a:noFill/>
        </p:spPr>
        <p:txBody>
          <a:bodyPr wrap="square" lIns="38100" tIns="25400" rIns="38100" bIns="25400">
            <a:spAutoFit/>
          </a:bodyPr>
          <a:lstStyle/>
          <a:p>
            <a:pPr>
              <a:spcAft>
                <a:spcPts val="400"/>
              </a:spcAft>
            </a:pPr>
            <a:r>
              <a:rPr sz="1050" b="1" i="0">
                <a:solidFill>
                  <a:srgbClr val="5B6B86"/>
                </a:solidFill>
                <a:latin typeface="Calibri"/>
              </a:rPr>
              <a:t>Direction   </a:t>
            </a:r>
            <a:r>
              <a:rPr sz="1050" b="0" i="0">
                <a:solidFill>
                  <a:srgbClr val="1F2A44"/>
                </a:solidFill>
                <a:latin typeface="Courier New"/>
              </a:rPr>
              <a:t>UP · DOWN · IDLE</a:t>
            </a:r>
          </a:p>
          <a:p>
            <a:pPr>
              <a:spcAft>
                <a:spcPts val="400"/>
              </a:spcAft>
            </a:pPr>
            <a:r>
              <a:rPr sz="1050" b="1" i="0">
                <a:solidFill>
                  <a:srgbClr val="5B6B86"/>
                </a:solidFill>
                <a:latin typeface="Calibri"/>
              </a:rPr>
              <a:t>ElevatorState   </a:t>
            </a:r>
            <a:r>
              <a:rPr sz="1050" b="0" i="0">
                <a:solidFill>
                  <a:srgbClr val="1F2A44"/>
                </a:solidFill>
                <a:latin typeface="Courier New"/>
              </a:rPr>
              <a:t>IDLE · MOVING · DWELLING</a:t>
            </a:r>
          </a:p>
          <a:p>
            <a:pPr>
              <a:spcAft>
                <a:spcPts val="400"/>
              </a:spcAft>
            </a:pPr>
            <a:r>
              <a:rPr sz="1050" b="1" i="0">
                <a:solidFill>
                  <a:srgbClr val="5B6B86"/>
                </a:solidFill>
                <a:latin typeface="Calibri"/>
              </a:rPr>
              <a:t>PassengerState   </a:t>
            </a:r>
            <a:r>
              <a:rPr sz="1050" b="0" i="0">
                <a:solidFill>
                  <a:srgbClr val="1F2A44"/>
                </a:solidFill>
                <a:latin typeface="Courier New"/>
              </a:rPr>
              <a:t>WAITING · ONBOARD · DELIVERED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THE ENGINE</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One tick at a time — how the simulation advances</a:t>
            </a:r>
          </a:p>
        </p:txBody>
      </p:sp>
      <p:sp>
        <p:nvSpPr>
          <p:cNvPr id="4" name="TextBox 3"/>
          <p:cNvSpPr txBox="1"/>
          <p:nvPr/>
        </p:nvSpPr>
        <p:spPr>
          <a:xfrm>
            <a:off x="640080" y="1371600"/>
            <a:ext cx="10881360" cy="320040"/>
          </a:xfrm>
          <a:prstGeom prst="rect">
            <a:avLst/>
          </a:prstGeom>
          <a:noFill/>
        </p:spPr>
        <p:txBody>
          <a:bodyPr wrap="square" lIns="38100" tIns="25400" rIns="38100" bIns="25400">
            <a:spAutoFit/>
          </a:bodyPr>
          <a:lstStyle/>
          <a:p>
            <a:r>
              <a:rPr sz="1300" b="0" i="1">
                <a:solidFill>
                  <a:srgbClr val="5B6B86"/>
                </a:solidFill>
                <a:latin typeface="Calibri"/>
              </a:rPr>
              <a:t>run_sim() spins this 6-step loop, advancing the clock one tick until the building empties.</a:t>
            </a:r>
          </a:p>
        </p:txBody>
      </p:sp>
      <p:sp>
        <p:nvSpPr>
          <p:cNvPr id="5" name="Rounded Rectangle 4"/>
          <p:cNvSpPr/>
          <p:nvPr/>
        </p:nvSpPr>
        <p:spPr>
          <a:xfrm>
            <a:off x="457200" y="2148840"/>
            <a:ext cx="1755648" cy="1783080"/>
          </a:xfrm>
          <a:prstGeom prst="roundRect">
            <a:avLst>
              <a:gd name="adj" fmla="val 7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603504" y="2295144"/>
            <a:ext cx="457200" cy="45720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03504"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1</a:t>
            </a:r>
          </a:p>
        </p:txBody>
      </p:sp>
      <p:sp>
        <p:nvSpPr>
          <p:cNvPr id="8" name="TextBox 7"/>
          <p:cNvSpPr txBox="1"/>
          <p:nvPr/>
        </p:nvSpPr>
        <p:spPr>
          <a:xfrm>
            <a:off x="1115568"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LOG</a:t>
            </a:r>
          </a:p>
        </p:txBody>
      </p:sp>
      <p:sp>
        <p:nvSpPr>
          <p:cNvPr id="9" name="TextBox 8"/>
          <p:cNvSpPr txBox="1"/>
          <p:nvPr/>
        </p:nvSpPr>
        <p:spPr>
          <a:xfrm>
            <a:off x="603504"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positions</a:t>
            </a:r>
          </a:p>
          <a:p>
            <a:pPr>
              <a:spcAft>
                <a:spcPts val="100"/>
              </a:spcAft>
            </a:pPr>
            <a:r>
              <a:rPr sz="1050" b="0" i="0">
                <a:solidFill>
                  <a:srgbClr val="1F2A44"/>
                </a:solidFill>
                <a:latin typeface="Calibri"/>
              </a:rPr>
              <a:t>(before move)</a:t>
            </a:r>
          </a:p>
        </p:txBody>
      </p:sp>
      <p:cxnSp>
        <p:nvCxnSpPr>
          <p:cNvPr id="10" name="Connector 9"/>
          <p:cNvCxnSpPr/>
          <p:nvPr/>
        </p:nvCxnSpPr>
        <p:spPr>
          <a:xfrm>
            <a:off x="2221991" y="3040380"/>
            <a:ext cx="128017" cy="0"/>
          </a:xfrm>
          <a:prstGeom prst="line">
            <a:avLst/>
          </a:prstGeom>
          <a:ln w="28575">
            <a:solidFill>
              <a:srgbClr val="9AA6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359152" y="2148840"/>
            <a:ext cx="1755648" cy="1783080"/>
          </a:xfrm>
          <a:prstGeom prst="roundRect">
            <a:avLst>
              <a:gd name="adj" fmla="val 7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2505456" y="2295144"/>
            <a:ext cx="457200" cy="45720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505456"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2</a:t>
            </a:r>
          </a:p>
        </p:txBody>
      </p:sp>
      <p:sp>
        <p:nvSpPr>
          <p:cNvPr id="14" name="TextBox 13"/>
          <p:cNvSpPr txBox="1"/>
          <p:nvPr/>
        </p:nvSpPr>
        <p:spPr>
          <a:xfrm>
            <a:off x="3017520"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ADMIT</a:t>
            </a:r>
          </a:p>
        </p:txBody>
      </p:sp>
      <p:sp>
        <p:nvSpPr>
          <p:cNvPr id="15" name="TextBox 14"/>
          <p:cNvSpPr txBox="1"/>
          <p:nvPr/>
        </p:nvSpPr>
        <p:spPr>
          <a:xfrm>
            <a:off x="2505456"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arrivals at t</a:t>
            </a:r>
          </a:p>
          <a:p>
            <a:pPr>
              <a:spcAft>
                <a:spcPts val="100"/>
              </a:spcAft>
            </a:pPr>
            <a:r>
              <a:rPr sz="1050" b="0" i="0">
                <a:solidFill>
                  <a:srgbClr val="1F2A44"/>
                </a:solidFill>
                <a:latin typeface="Calibri"/>
              </a:rPr>
              <a:t>→ unassigned</a:t>
            </a:r>
          </a:p>
        </p:txBody>
      </p:sp>
      <p:cxnSp>
        <p:nvCxnSpPr>
          <p:cNvPr id="16" name="Connector 15"/>
          <p:cNvCxnSpPr/>
          <p:nvPr/>
        </p:nvCxnSpPr>
        <p:spPr>
          <a:xfrm>
            <a:off x="4123944" y="3040380"/>
            <a:ext cx="128016" cy="0"/>
          </a:xfrm>
          <a:prstGeom prst="line">
            <a:avLst/>
          </a:prstGeom>
          <a:ln w="28575">
            <a:solidFill>
              <a:srgbClr val="9AA6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61104" y="2148840"/>
            <a:ext cx="1755648" cy="1783080"/>
          </a:xfrm>
          <a:prstGeom prst="roundRect">
            <a:avLst>
              <a:gd name="adj" fmla="val 7000"/>
            </a:avLst>
          </a:prstGeom>
          <a:solidFill>
            <a:srgbClr val="F3F5FB"/>
          </a:solidFill>
          <a:ln w="19050">
            <a:solidFill>
              <a:srgbClr val="F5A62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4407408" y="2295144"/>
            <a:ext cx="457200" cy="457200"/>
          </a:xfrm>
          <a:prstGeom prst="roundRect">
            <a:avLst>
              <a:gd name="adj" fmla="val 15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4407408"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3</a:t>
            </a:r>
          </a:p>
        </p:txBody>
      </p:sp>
      <p:sp>
        <p:nvSpPr>
          <p:cNvPr id="20" name="TextBox 19"/>
          <p:cNvSpPr txBox="1"/>
          <p:nvPr/>
        </p:nvSpPr>
        <p:spPr>
          <a:xfrm>
            <a:off x="4919472"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DISPATCH</a:t>
            </a:r>
          </a:p>
        </p:txBody>
      </p:sp>
      <p:sp>
        <p:nvSpPr>
          <p:cNvPr id="21" name="TextBox 20"/>
          <p:cNvSpPr txBox="1"/>
          <p:nvPr/>
        </p:nvSpPr>
        <p:spPr>
          <a:xfrm>
            <a:off x="4407408"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policy picks</a:t>
            </a:r>
          </a:p>
          <a:p>
            <a:pPr>
              <a:spcAft>
                <a:spcPts val="100"/>
              </a:spcAft>
            </a:pPr>
            <a:r>
              <a:rPr sz="1050" b="0" i="0">
                <a:solidFill>
                  <a:srgbClr val="1F2A44"/>
                </a:solidFill>
                <a:latin typeface="Calibri"/>
              </a:rPr>
              <a:t>a car → waiting</a:t>
            </a:r>
          </a:p>
        </p:txBody>
      </p:sp>
      <p:cxnSp>
        <p:nvCxnSpPr>
          <p:cNvPr id="22" name="Connector 21"/>
          <p:cNvCxnSpPr/>
          <p:nvPr/>
        </p:nvCxnSpPr>
        <p:spPr>
          <a:xfrm>
            <a:off x="6025896" y="3040380"/>
            <a:ext cx="128016" cy="0"/>
          </a:xfrm>
          <a:prstGeom prst="line">
            <a:avLst/>
          </a:prstGeom>
          <a:ln w="28575">
            <a:solidFill>
              <a:srgbClr val="9AA6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63056" y="2148840"/>
            <a:ext cx="1755648" cy="1783080"/>
          </a:xfrm>
          <a:prstGeom prst="roundRect">
            <a:avLst>
              <a:gd name="adj" fmla="val 7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6309360" y="2295144"/>
            <a:ext cx="457200" cy="45720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309360"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4</a:t>
            </a:r>
          </a:p>
        </p:txBody>
      </p:sp>
      <p:sp>
        <p:nvSpPr>
          <p:cNvPr id="26" name="TextBox 25"/>
          <p:cNvSpPr txBox="1"/>
          <p:nvPr/>
        </p:nvSpPr>
        <p:spPr>
          <a:xfrm>
            <a:off x="6821424"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SERVICE</a:t>
            </a:r>
          </a:p>
        </p:txBody>
      </p:sp>
      <p:sp>
        <p:nvSpPr>
          <p:cNvPr id="27" name="TextBox 26"/>
          <p:cNvSpPr txBox="1"/>
          <p:nvPr/>
        </p:nvSpPr>
        <p:spPr>
          <a:xfrm>
            <a:off x="6309360"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alight, then</a:t>
            </a:r>
          </a:p>
          <a:p>
            <a:pPr>
              <a:spcAft>
                <a:spcPts val="100"/>
              </a:spcAft>
            </a:pPr>
            <a:r>
              <a:rPr sz="1050" b="0" i="0">
                <a:solidFill>
                  <a:srgbClr val="1F2A44"/>
                </a:solidFill>
                <a:latin typeface="Calibri"/>
              </a:rPr>
              <a:t>board (≤ cap)</a:t>
            </a:r>
          </a:p>
        </p:txBody>
      </p:sp>
      <p:cxnSp>
        <p:nvCxnSpPr>
          <p:cNvPr id="28" name="Connector 27"/>
          <p:cNvCxnSpPr/>
          <p:nvPr/>
        </p:nvCxnSpPr>
        <p:spPr>
          <a:xfrm>
            <a:off x="7927848" y="3040380"/>
            <a:ext cx="128016" cy="0"/>
          </a:xfrm>
          <a:prstGeom prst="line">
            <a:avLst/>
          </a:prstGeom>
          <a:ln w="28575">
            <a:solidFill>
              <a:srgbClr val="9AA6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065008" y="2148840"/>
            <a:ext cx="1755648" cy="1783080"/>
          </a:xfrm>
          <a:prstGeom prst="roundRect">
            <a:avLst>
              <a:gd name="adj" fmla="val 7000"/>
            </a:avLst>
          </a:prstGeom>
          <a:solidFill>
            <a:srgbClr val="F3F5FB"/>
          </a:solidFill>
          <a:ln w="19050">
            <a:solidFill>
              <a:srgbClr val="2E9E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8211312" y="2295144"/>
            <a:ext cx="457200" cy="457200"/>
          </a:xfrm>
          <a:prstGeom prst="roundRect">
            <a:avLst>
              <a:gd name="adj" fmla="val 15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211312"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5</a:t>
            </a:r>
          </a:p>
        </p:txBody>
      </p:sp>
      <p:sp>
        <p:nvSpPr>
          <p:cNvPr id="32" name="TextBox 31"/>
          <p:cNvSpPr txBox="1"/>
          <p:nvPr/>
        </p:nvSpPr>
        <p:spPr>
          <a:xfrm>
            <a:off x="8723376"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MOVE</a:t>
            </a:r>
          </a:p>
        </p:txBody>
      </p:sp>
      <p:sp>
        <p:nvSpPr>
          <p:cNvPr id="33" name="TextBox 32"/>
          <p:cNvSpPr txBox="1"/>
          <p:nvPr/>
        </p:nvSpPr>
        <p:spPr>
          <a:xfrm>
            <a:off x="8211312"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one floor to</a:t>
            </a:r>
          </a:p>
          <a:p>
            <a:pPr>
              <a:spcAft>
                <a:spcPts val="100"/>
              </a:spcAft>
            </a:pPr>
            <a:r>
              <a:rPr sz="1050" b="0" i="0">
                <a:solidFill>
                  <a:srgbClr val="1F2A44"/>
                </a:solidFill>
                <a:latin typeface="Calibri"/>
              </a:rPr>
              <a:t>next target</a:t>
            </a:r>
          </a:p>
        </p:txBody>
      </p:sp>
      <p:cxnSp>
        <p:nvCxnSpPr>
          <p:cNvPr id="34" name="Connector 33"/>
          <p:cNvCxnSpPr/>
          <p:nvPr/>
        </p:nvCxnSpPr>
        <p:spPr>
          <a:xfrm>
            <a:off x="9829800" y="3040380"/>
            <a:ext cx="128016" cy="0"/>
          </a:xfrm>
          <a:prstGeom prst="line">
            <a:avLst/>
          </a:prstGeom>
          <a:ln w="28575">
            <a:solidFill>
              <a:srgbClr val="9AA6B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966960" y="2148840"/>
            <a:ext cx="1755648" cy="1783080"/>
          </a:xfrm>
          <a:prstGeom prst="roundRect">
            <a:avLst>
              <a:gd name="adj" fmla="val 7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ounded Rectangle 35"/>
          <p:cNvSpPr/>
          <p:nvPr/>
        </p:nvSpPr>
        <p:spPr>
          <a:xfrm>
            <a:off x="10113264" y="2295144"/>
            <a:ext cx="457200" cy="45720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10113264" y="2295144"/>
            <a:ext cx="457200" cy="457200"/>
          </a:xfrm>
          <a:prstGeom prst="rect">
            <a:avLst/>
          </a:prstGeom>
          <a:noFill/>
        </p:spPr>
        <p:txBody>
          <a:bodyPr wrap="square" lIns="38100" tIns="25400" rIns="38100" bIns="25400" anchor="ctr">
            <a:spAutoFit/>
          </a:bodyPr>
          <a:lstStyle/>
          <a:p>
            <a:pPr algn="ctr"/>
            <a:r>
              <a:rPr sz="1500" b="1" i="0">
                <a:solidFill>
                  <a:srgbClr val="FFFFFF"/>
                </a:solidFill>
                <a:latin typeface="Calibri"/>
              </a:rPr>
              <a:t>6</a:t>
            </a:r>
          </a:p>
        </p:txBody>
      </p:sp>
      <p:sp>
        <p:nvSpPr>
          <p:cNvPr id="38" name="TextBox 37"/>
          <p:cNvSpPr txBox="1"/>
          <p:nvPr/>
        </p:nvSpPr>
        <p:spPr>
          <a:xfrm>
            <a:off x="10625328" y="2331720"/>
            <a:ext cx="978407" cy="457200"/>
          </a:xfrm>
          <a:prstGeom prst="rect">
            <a:avLst/>
          </a:prstGeom>
          <a:noFill/>
        </p:spPr>
        <p:txBody>
          <a:bodyPr wrap="square" lIns="38100" tIns="25400" rIns="38100" bIns="25400" anchor="ctr">
            <a:spAutoFit/>
          </a:bodyPr>
          <a:lstStyle/>
          <a:p>
            <a:r>
              <a:rPr sz="1200" b="1" i="0">
                <a:solidFill>
                  <a:srgbClr val="1E2761"/>
                </a:solidFill>
                <a:latin typeface="Calibri"/>
              </a:rPr>
              <a:t>ADVANCE</a:t>
            </a:r>
          </a:p>
        </p:txBody>
      </p:sp>
      <p:sp>
        <p:nvSpPr>
          <p:cNvPr id="39" name="TextBox 38"/>
          <p:cNvSpPr txBox="1"/>
          <p:nvPr/>
        </p:nvSpPr>
        <p:spPr>
          <a:xfrm>
            <a:off x="10113264" y="2898648"/>
            <a:ext cx="1463039" cy="914400"/>
          </a:xfrm>
          <a:prstGeom prst="rect">
            <a:avLst/>
          </a:prstGeom>
          <a:noFill/>
        </p:spPr>
        <p:txBody>
          <a:bodyPr wrap="square" lIns="38100" tIns="25400" rIns="38100" bIns="25400">
            <a:spAutoFit/>
          </a:bodyPr>
          <a:lstStyle/>
          <a:p>
            <a:pPr>
              <a:spcAft>
                <a:spcPts val="100"/>
              </a:spcAft>
            </a:pPr>
            <a:r>
              <a:rPr sz="1050" b="0" i="0">
                <a:solidFill>
                  <a:srgbClr val="1F2A44"/>
                </a:solidFill>
                <a:latin typeface="Calibri"/>
              </a:rPr>
              <a:t>t + 1;</a:t>
            </a:r>
          </a:p>
          <a:p>
            <a:pPr>
              <a:spcAft>
                <a:spcPts val="100"/>
              </a:spcAft>
            </a:pPr>
            <a:r>
              <a:rPr sz="1050" b="0" i="0">
                <a:solidFill>
                  <a:srgbClr val="1F2A44"/>
                </a:solidFill>
                <a:latin typeface="Calibri"/>
              </a:rPr>
              <a:t>drained? stop</a:t>
            </a:r>
          </a:p>
        </p:txBody>
      </p:sp>
      <p:sp>
        <p:nvSpPr>
          <p:cNvPr id="40" name="Rounded Rectangle 39"/>
          <p:cNvSpPr/>
          <p:nvPr/>
        </p:nvSpPr>
        <p:spPr>
          <a:xfrm>
            <a:off x="457200" y="4206240"/>
            <a:ext cx="11018520" cy="548640"/>
          </a:xfrm>
          <a:prstGeom prst="roundRect">
            <a:avLst>
              <a:gd name="adj" fmla="val 8000"/>
            </a:avLst>
          </a:prstGeom>
          <a:solidFill>
            <a:srgbClr val="EEF1FA"/>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57200" y="4206240"/>
            <a:ext cx="11018520" cy="548640"/>
          </a:xfrm>
          <a:prstGeom prst="rect">
            <a:avLst/>
          </a:prstGeom>
          <a:noFill/>
        </p:spPr>
        <p:txBody>
          <a:bodyPr wrap="square" lIns="38100" tIns="25400" rIns="38100" bIns="25400" anchor="ctr">
            <a:spAutoFit/>
          </a:bodyPr>
          <a:lstStyle/>
          <a:p>
            <a:pPr algn="ctr"/>
            <a:r>
              <a:rPr sz="1300" b="1" i="0">
                <a:solidFill>
                  <a:srgbClr val="1E2761"/>
                </a:solidFill>
                <a:latin typeface="Calibri"/>
              </a:rPr>
              <a:t>↻  repeat every tick — until all passengers are delivered   (stall-detector + hard cap = safety nets)</a:t>
            </a:r>
          </a:p>
        </p:txBody>
      </p:sp>
      <p:sp>
        <p:nvSpPr>
          <p:cNvPr id="42" name="Rounded Rectangle 41"/>
          <p:cNvSpPr/>
          <p:nvPr/>
        </p:nvSpPr>
        <p:spPr>
          <a:xfrm>
            <a:off x="457200" y="4983480"/>
            <a:ext cx="11018520" cy="960120"/>
          </a:xfrm>
          <a:prstGeom prst="roundRect">
            <a:avLst>
              <a:gd name="adj" fmla="val 7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777240" y="4983480"/>
            <a:ext cx="10424160" cy="960120"/>
          </a:xfrm>
          <a:prstGeom prst="rect">
            <a:avLst/>
          </a:prstGeom>
          <a:noFill/>
        </p:spPr>
        <p:txBody>
          <a:bodyPr wrap="square" lIns="38100" tIns="25400" rIns="38100" bIns="25400" anchor="ctr">
            <a:spAutoFit/>
          </a:bodyPr>
          <a:lstStyle/>
          <a:p>
            <a:r>
              <a:rPr sz="1350" b="1" i="0">
                <a:solidFill>
                  <a:srgbClr val="F5A623"/>
                </a:solidFill>
                <a:latin typeface="Calibri"/>
              </a:rPr>
              <a:t>Two design choices:  </a:t>
            </a:r>
            <a:r>
              <a:rPr sz="1350" b="0" i="0">
                <a:solidFill>
                  <a:srgbClr val="FFFFFF"/>
                </a:solidFill>
                <a:latin typeface="Calibri"/>
              </a:rPr>
              <a:t>(1) SERVICE before MOVE — a car already on your floor boards you before driving off.  (2) Each car's targets are </a:t>
            </a:r>
            <a:r>
              <a:rPr sz="1350" b="1" i="0">
                <a:solidFill>
                  <a:srgbClr val="CADCFC"/>
                </a:solidFill>
                <a:latin typeface="Calibri"/>
              </a:rPr>
              <a:t>re-derived every tick</a:t>
            </a:r>
            <a:r>
              <a:rPr sz="1350" b="0" i="0">
                <a:solidFill>
                  <a:srgbClr val="FFFFFF"/>
                </a:solidFill>
                <a:latin typeface="Calibri"/>
              </a:rPr>
              <a:t> from its committed passengers. Steps 3 &amp; 5 are where your dispatch &amp; motion policies plug 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MEASUREMENT</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Metrics — reading summary_stats.json</a:t>
            </a:r>
          </a:p>
        </p:txBody>
      </p:sp>
      <p:sp>
        <p:nvSpPr>
          <p:cNvPr id="4" name="TextBox 3"/>
          <p:cNvSpPr txBox="1"/>
          <p:nvPr/>
        </p:nvSpPr>
        <p:spPr>
          <a:xfrm>
            <a:off x="8321040" y="932688"/>
            <a:ext cx="3200400" cy="292608"/>
          </a:xfrm>
          <a:prstGeom prst="rect">
            <a:avLst/>
          </a:prstGeom>
          <a:noFill/>
        </p:spPr>
        <p:txBody>
          <a:bodyPr wrap="square" lIns="38100" tIns="25400" rIns="38100" bIns="25400" anchor="ctr">
            <a:spAutoFit/>
          </a:bodyPr>
          <a:lstStyle/>
          <a:p>
            <a:pPr algn="r"/>
            <a:r>
              <a:rPr sz="1050" b="0" i="1">
                <a:solidFill>
                  <a:srgbClr val="6B7280"/>
                </a:solidFill>
                <a:latin typeface="Calibri"/>
              </a:rPr>
              <a:t>computed in  </a:t>
            </a:r>
            <a:r>
              <a:rPr sz="1100" b="0" i="0">
                <a:solidFill>
                  <a:srgbClr val="5B6B86"/>
                </a:solidFill>
                <a:latin typeface="Courier New"/>
              </a:rPr>
              <a:t>metrics.py</a:t>
            </a:r>
          </a:p>
        </p:txBody>
      </p:sp>
      <p:sp>
        <p:nvSpPr>
          <p:cNvPr id="5" name="Rounded Rectangle 4"/>
          <p:cNvSpPr/>
          <p:nvPr/>
        </p:nvSpPr>
        <p:spPr>
          <a:xfrm>
            <a:off x="640080" y="1554480"/>
            <a:ext cx="5486400" cy="18288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68680" y="1700784"/>
            <a:ext cx="5120640" cy="320040"/>
          </a:xfrm>
          <a:prstGeom prst="rect">
            <a:avLst/>
          </a:prstGeom>
          <a:noFill/>
        </p:spPr>
        <p:txBody>
          <a:bodyPr wrap="square" lIns="38100" tIns="25400" rIns="38100" bIns="25400">
            <a:spAutoFit/>
          </a:bodyPr>
          <a:lstStyle/>
          <a:p>
            <a:r>
              <a:rPr sz="1250" b="1" i="0">
                <a:solidFill>
                  <a:srgbClr val="1E2761"/>
                </a:solidFill>
                <a:latin typeface="Calibri"/>
              </a:rPr>
              <a:t>TIME — per passenger (ticks)</a:t>
            </a:r>
          </a:p>
        </p:txBody>
      </p:sp>
      <p:sp>
        <p:nvSpPr>
          <p:cNvPr id="7" name="TextBox 6"/>
          <p:cNvSpPr txBox="1"/>
          <p:nvPr/>
        </p:nvSpPr>
        <p:spPr>
          <a:xfrm>
            <a:off x="868680" y="2121408"/>
            <a:ext cx="5074920" cy="365760"/>
          </a:xfrm>
          <a:prstGeom prst="rect">
            <a:avLst/>
          </a:prstGeom>
          <a:noFill/>
        </p:spPr>
        <p:txBody>
          <a:bodyPr wrap="square" lIns="38100" tIns="25400" rIns="38100" bIns="25400">
            <a:spAutoFit/>
          </a:bodyPr>
          <a:lstStyle/>
          <a:p>
            <a:r>
              <a:rPr sz="1100" b="1" i="0">
                <a:solidFill>
                  <a:srgbClr val="1E2761"/>
                </a:solidFill>
                <a:latin typeface="Courier New"/>
              </a:rPr>
              <a:t>wait   </a:t>
            </a:r>
            <a:r>
              <a:rPr sz="1100" b="0" i="0">
                <a:solidFill>
                  <a:srgbClr val="1F2A44"/>
                </a:solidFill>
                <a:latin typeface="Calibri"/>
              </a:rPr>
              <a:t>= pickup − submit;  time to board  (+ p90/p95 tail)</a:t>
            </a:r>
          </a:p>
        </p:txBody>
      </p:sp>
      <p:sp>
        <p:nvSpPr>
          <p:cNvPr id="8" name="TextBox 7"/>
          <p:cNvSpPr txBox="1"/>
          <p:nvPr/>
        </p:nvSpPr>
        <p:spPr>
          <a:xfrm>
            <a:off x="868680" y="2523744"/>
            <a:ext cx="5074920" cy="365760"/>
          </a:xfrm>
          <a:prstGeom prst="rect">
            <a:avLst/>
          </a:prstGeom>
          <a:noFill/>
        </p:spPr>
        <p:txBody>
          <a:bodyPr wrap="square" lIns="38100" tIns="25400" rIns="38100" bIns="25400">
            <a:spAutoFit/>
          </a:bodyPr>
          <a:lstStyle/>
          <a:p>
            <a:r>
              <a:rPr sz="1100" b="1" i="0">
                <a:solidFill>
                  <a:srgbClr val="1E2761"/>
                </a:solidFill>
                <a:latin typeface="Courier New"/>
              </a:rPr>
              <a:t>travel   </a:t>
            </a:r>
            <a:r>
              <a:rPr sz="1100" b="0" i="0">
                <a:solidFill>
                  <a:srgbClr val="1F2A44"/>
                </a:solidFill>
                <a:latin typeface="Calibri"/>
              </a:rPr>
              <a:t>= dropoff − pickup;  time onboard</a:t>
            </a:r>
          </a:p>
        </p:txBody>
      </p:sp>
      <p:sp>
        <p:nvSpPr>
          <p:cNvPr id="9" name="TextBox 8"/>
          <p:cNvSpPr txBox="1"/>
          <p:nvPr/>
        </p:nvSpPr>
        <p:spPr>
          <a:xfrm>
            <a:off x="868680" y="2926079"/>
            <a:ext cx="5074920" cy="365760"/>
          </a:xfrm>
          <a:prstGeom prst="rect">
            <a:avLst/>
          </a:prstGeom>
          <a:noFill/>
        </p:spPr>
        <p:txBody>
          <a:bodyPr wrap="square" lIns="38100" tIns="25400" rIns="38100" bIns="25400">
            <a:spAutoFit/>
          </a:bodyPr>
          <a:lstStyle/>
          <a:p>
            <a:r>
              <a:rPr sz="1100" b="1" i="0">
                <a:solidFill>
                  <a:srgbClr val="1E2761"/>
                </a:solidFill>
                <a:latin typeface="Courier New"/>
              </a:rPr>
              <a:t>total   </a:t>
            </a:r>
            <a:r>
              <a:rPr sz="1100" b="0" i="0">
                <a:solidFill>
                  <a:srgbClr val="1F2A44"/>
                </a:solidFill>
                <a:latin typeface="Calibri"/>
              </a:rPr>
              <a:t>= wait + travel;  total in-system (the objective)</a:t>
            </a:r>
          </a:p>
        </p:txBody>
      </p:sp>
      <p:sp>
        <p:nvSpPr>
          <p:cNvPr id="10" name="Rounded Rectangle 9"/>
          <p:cNvSpPr/>
          <p:nvPr/>
        </p:nvSpPr>
        <p:spPr>
          <a:xfrm>
            <a:off x="640080" y="3520440"/>
            <a:ext cx="5486400" cy="137160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68680" y="3666744"/>
            <a:ext cx="5120640" cy="320040"/>
          </a:xfrm>
          <a:prstGeom prst="rect">
            <a:avLst/>
          </a:prstGeom>
          <a:noFill/>
        </p:spPr>
        <p:txBody>
          <a:bodyPr wrap="square" lIns="38100" tIns="25400" rIns="38100" bIns="25400">
            <a:spAutoFit/>
          </a:bodyPr>
          <a:lstStyle/>
          <a:p>
            <a:r>
              <a:rPr sz="1250" b="1" i="0">
                <a:solidFill>
                  <a:srgbClr val="2E9E8F"/>
                </a:solidFill>
                <a:latin typeface="Calibri"/>
              </a:rPr>
              <a:t>POOLING — how well cars share</a:t>
            </a:r>
          </a:p>
        </p:txBody>
      </p:sp>
      <p:sp>
        <p:nvSpPr>
          <p:cNvPr id="12" name="TextBox 11"/>
          <p:cNvSpPr txBox="1"/>
          <p:nvPr/>
        </p:nvSpPr>
        <p:spPr>
          <a:xfrm>
            <a:off x="868680" y="4087368"/>
            <a:ext cx="5074920" cy="365760"/>
          </a:xfrm>
          <a:prstGeom prst="rect">
            <a:avLst/>
          </a:prstGeom>
          <a:noFill/>
        </p:spPr>
        <p:txBody>
          <a:bodyPr wrap="square" lIns="38100" tIns="25400" rIns="38100" bIns="25400">
            <a:spAutoFit/>
          </a:bodyPr>
          <a:lstStyle/>
          <a:p>
            <a:r>
              <a:rPr sz="1100" b="1" i="0">
                <a:solidFill>
                  <a:srgbClr val="1E2761"/>
                </a:solidFill>
                <a:latin typeface="Courier New"/>
              </a:rPr>
              <a:t>distance_per_passenger   </a:t>
            </a:r>
            <a:r>
              <a:rPr sz="1100" b="0" i="0">
                <a:solidFill>
                  <a:srgbClr val="1F2A44"/>
                </a:solidFill>
                <a:latin typeface="Calibri"/>
              </a:rPr>
              <a:t>total_distance ÷ delivered · lower = better</a:t>
            </a:r>
          </a:p>
        </p:txBody>
      </p:sp>
      <p:sp>
        <p:nvSpPr>
          <p:cNvPr id="13" name="TextBox 12"/>
          <p:cNvSpPr txBox="1"/>
          <p:nvPr/>
        </p:nvSpPr>
        <p:spPr>
          <a:xfrm>
            <a:off x="868680" y="4489704"/>
            <a:ext cx="5074920" cy="365760"/>
          </a:xfrm>
          <a:prstGeom prst="rect">
            <a:avLst/>
          </a:prstGeom>
          <a:noFill/>
        </p:spPr>
        <p:txBody>
          <a:bodyPr wrap="square" lIns="38100" tIns="25400" rIns="38100" bIns="25400">
            <a:spAutoFit/>
          </a:bodyPr>
          <a:lstStyle/>
          <a:p>
            <a:r>
              <a:rPr sz="1100" b="1" i="0">
                <a:solidFill>
                  <a:srgbClr val="1E2761"/>
                </a:solidFill>
                <a:latin typeface="Courier New"/>
              </a:rPr>
              <a:t>passengers_per_stop   </a:t>
            </a:r>
            <a:r>
              <a:rPr sz="1100" b="0" i="0">
                <a:solidFill>
                  <a:srgbClr val="1F2A44"/>
                </a:solidFill>
                <a:latin typeface="Calibri"/>
              </a:rPr>
              <a:t>delivered ÷ stops · higher = more sharing</a:t>
            </a:r>
          </a:p>
        </p:txBody>
      </p:sp>
      <p:sp>
        <p:nvSpPr>
          <p:cNvPr id="14" name="Rounded Rectangle 13"/>
          <p:cNvSpPr/>
          <p:nvPr/>
        </p:nvSpPr>
        <p:spPr>
          <a:xfrm>
            <a:off x="6400800" y="1554480"/>
            <a:ext cx="5120640" cy="333756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629400" y="1700784"/>
            <a:ext cx="4754879" cy="320040"/>
          </a:xfrm>
          <a:prstGeom prst="rect">
            <a:avLst/>
          </a:prstGeom>
          <a:noFill/>
        </p:spPr>
        <p:txBody>
          <a:bodyPr wrap="square" lIns="38100" tIns="25400" rIns="38100" bIns="25400">
            <a:spAutoFit/>
          </a:bodyPr>
          <a:lstStyle/>
          <a:p>
            <a:r>
              <a:rPr sz="1250" b="1" i="0">
                <a:solidFill>
                  <a:srgbClr val="B06A12"/>
                </a:solidFill>
                <a:latin typeface="Calibri"/>
              </a:rPr>
              <a:t>EFFICIENCY — whole fleet</a:t>
            </a:r>
          </a:p>
        </p:txBody>
      </p:sp>
      <p:sp>
        <p:nvSpPr>
          <p:cNvPr id="16" name="TextBox 15"/>
          <p:cNvSpPr txBox="1"/>
          <p:nvPr/>
        </p:nvSpPr>
        <p:spPr>
          <a:xfrm>
            <a:off x="6629400" y="2121408"/>
            <a:ext cx="4709159" cy="365760"/>
          </a:xfrm>
          <a:prstGeom prst="rect">
            <a:avLst/>
          </a:prstGeom>
          <a:noFill/>
        </p:spPr>
        <p:txBody>
          <a:bodyPr wrap="square" lIns="38100" tIns="25400" rIns="38100" bIns="25400">
            <a:spAutoFit/>
          </a:bodyPr>
          <a:lstStyle/>
          <a:p>
            <a:r>
              <a:rPr sz="1100" b="1" i="0">
                <a:solidFill>
                  <a:srgbClr val="1E2761"/>
                </a:solidFill>
                <a:latin typeface="Courier New"/>
              </a:rPr>
              <a:t>total_distance   </a:t>
            </a:r>
            <a:r>
              <a:rPr sz="1100" b="0" i="0">
                <a:solidFill>
                  <a:srgbClr val="1F2A44"/>
                </a:solidFill>
                <a:latin typeface="Calibri"/>
              </a:rPr>
              <a:t>Σ of all floor-moves · total fleet work</a:t>
            </a:r>
          </a:p>
        </p:txBody>
      </p:sp>
      <p:sp>
        <p:nvSpPr>
          <p:cNvPr id="17" name="TextBox 16"/>
          <p:cNvSpPr txBox="1"/>
          <p:nvPr/>
        </p:nvSpPr>
        <p:spPr>
          <a:xfrm>
            <a:off x="6629400" y="2688336"/>
            <a:ext cx="4709159" cy="365760"/>
          </a:xfrm>
          <a:prstGeom prst="rect">
            <a:avLst/>
          </a:prstGeom>
          <a:noFill/>
        </p:spPr>
        <p:txBody>
          <a:bodyPr wrap="square" lIns="38100" tIns="25400" rIns="38100" bIns="25400">
            <a:spAutoFit/>
          </a:bodyPr>
          <a:lstStyle/>
          <a:p>
            <a:r>
              <a:rPr sz="1100" b="1" i="0">
                <a:solidFill>
                  <a:srgbClr val="1E2761"/>
                </a:solidFill>
                <a:latin typeface="Courier New"/>
              </a:rPr>
              <a:t>stops_made   </a:t>
            </a:r>
            <a:r>
              <a:rPr sz="1100" b="0" i="0">
                <a:solidFill>
                  <a:srgbClr val="1F2A44"/>
                </a:solidFill>
                <a:latin typeface="Calibri"/>
              </a:rPr>
              <a:t>count of door-open service events</a:t>
            </a:r>
          </a:p>
        </p:txBody>
      </p:sp>
      <p:sp>
        <p:nvSpPr>
          <p:cNvPr id="18" name="TextBox 17"/>
          <p:cNvSpPr txBox="1"/>
          <p:nvPr/>
        </p:nvSpPr>
        <p:spPr>
          <a:xfrm>
            <a:off x="6629400" y="3255264"/>
            <a:ext cx="4709159" cy="365760"/>
          </a:xfrm>
          <a:prstGeom prst="rect">
            <a:avLst/>
          </a:prstGeom>
          <a:noFill/>
        </p:spPr>
        <p:txBody>
          <a:bodyPr wrap="square" lIns="38100" tIns="25400" rIns="38100" bIns="25400">
            <a:spAutoFit/>
          </a:bodyPr>
          <a:lstStyle/>
          <a:p>
            <a:r>
              <a:rPr sz="1100" b="1" i="0">
                <a:solidFill>
                  <a:srgbClr val="1E2761"/>
                </a:solidFill>
                <a:latin typeface="Courier New"/>
              </a:rPr>
              <a:t>utilization_rho   </a:t>
            </a:r>
            <a:r>
              <a:rPr sz="1100" b="0" i="0">
                <a:solidFill>
                  <a:srgbClr val="1F2A44"/>
                </a:solidFill>
                <a:latin typeface="Calibri"/>
              </a:rPr>
              <a:t>busy ÷ (ticks × cars) · fraction of time busy</a:t>
            </a:r>
          </a:p>
        </p:txBody>
      </p:sp>
      <p:sp>
        <p:nvSpPr>
          <p:cNvPr id="19" name="TextBox 18"/>
          <p:cNvSpPr txBox="1"/>
          <p:nvPr/>
        </p:nvSpPr>
        <p:spPr>
          <a:xfrm>
            <a:off x="6629400" y="3822191"/>
            <a:ext cx="4709159" cy="365760"/>
          </a:xfrm>
          <a:prstGeom prst="rect">
            <a:avLst/>
          </a:prstGeom>
          <a:noFill/>
        </p:spPr>
        <p:txBody>
          <a:bodyPr wrap="square" lIns="38100" tIns="25400" rIns="38100" bIns="25400">
            <a:spAutoFit/>
          </a:bodyPr>
          <a:lstStyle/>
          <a:p>
            <a:r>
              <a:rPr sz="1100" b="1" i="0">
                <a:solidFill>
                  <a:srgbClr val="1E2761"/>
                </a:solidFill>
                <a:latin typeface="Courier New"/>
              </a:rPr>
              <a:t>throughput   </a:t>
            </a:r>
            <a:r>
              <a:rPr sz="1100" b="0" i="0">
                <a:solidFill>
                  <a:srgbClr val="1F2A44"/>
                </a:solidFill>
                <a:latin typeface="Calibri"/>
              </a:rPr>
              <a:t>delivered ÷ ticks · delivery rate</a:t>
            </a:r>
          </a:p>
        </p:txBody>
      </p:sp>
      <p:sp>
        <p:nvSpPr>
          <p:cNvPr id="20" name="Rounded Rectangle 19"/>
          <p:cNvSpPr/>
          <p:nvPr/>
        </p:nvSpPr>
        <p:spPr>
          <a:xfrm>
            <a:off x="640080" y="5074920"/>
            <a:ext cx="10881360" cy="960120"/>
          </a:xfrm>
          <a:prstGeom prst="roundRect">
            <a:avLst>
              <a:gd name="adj" fmla="val 7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914400" y="5074920"/>
            <a:ext cx="10332720" cy="960120"/>
          </a:xfrm>
          <a:prstGeom prst="rect">
            <a:avLst/>
          </a:prstGeom>
          <a:noFill/>
        </p:spPr>
        <p:txBody>
          <a:bodyPr wrap="square" lIns="38100" tIns="25400" rIns="38100" bIns="25400" anchor="ctr">
            <a:spAutoFit/>
          </a:bodyPr>
          <a:lstStyle/>
          <a:p>
            <a:r>
              <a:rPr sz="1300" b="1" i="0">
                <a:solidFill>
                  <a:srgbClr val="F5A623"/>
                </a:solidFill>
                <a:latin typeface="Calibri"/>
              </a:rPr>
              <a:t>Reading the example (round-robin, up-peak):  </a:t>
            </a:r>
            <a:r>
              <a:rPr sz="1300" b="0" i="0">
                <a:solidFill>
                  <a:srgbClr val="FFFFFF"/>
                </a:solidFill>
                <a:latin typeface="Calibri"/>
              </a:rPr>
              <a:t>total avg 121 · ρ 0.96 · passengers_per_stop 1.05 → the fleet runs near-flat-out yet serves ~1 rider per stop. Busy, but barely pooling — the round-robin fingerprint.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RESULTS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The best policy depends on the traffic pattern</a:t>
            </a:r>
          </a:p>
        </p:txBody>
      </p:sp>
      <p:pic>
        <p:nvPicPr>
          <p:cNvPr id="4" name="Picture 3" descr="comparison_chart.png"/>
          <p:cNvPicPr>
            <a:picLocks noChangeAspect="1"/>
          </p:cNvPicPr>
          <p:nvPr/>
        </p:nvPicPr>
        <p:blipFill>
          <a:blip r:embed="rId3"/>
          <a:stretch>
            <a:fillRect/>
          </a:stretch>
        </p:blipFill>
        <p:spPr>
          <a:xfrm>
            <a:off x="640080" y="1508760"/>
            <a:ext cx="7635240" cy="2617797"/>
          </a:xfrm>
          <a:prstGeom prst="rect">
            <a:avLst/>
          </a:prstGeom>
        </p:spPr>
      </p:pic>
      <p:sp>
        <p:nvSpPr>
          <p:cNvPr id="5" name="Rounded Rectangle 4"/>
          <p:cNvSpPr/>
          <p:nvPr/>
        </p:nvSpPr>
        <p:spPr>
          <a:xfrm>
            <a:off x="8458200" y="1508760"/>
            <a:ext cx="3108960" cy="265176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686800" y="1691640"/>
            <a:ext cx="2651760" cy="274320"/>
          </a:xfrm>
          <a:prstGeom prst="rect">
            <a:avLst/>
          </a:prstGeom>
          <a:noFill/>
        </p:spPr>
        <p:txBody>
          <a:bodyPr wrap="square" lIns="38100" tIns="25400" rIns="38100" bIns="25400">
            <a:spAutoFit/>
          </a:bodyPr>
          <a:lstStyle/>
          <a:p>
            <a:r>
              <a:rPr sz="1200" b="1" i="0">
                <a:solidFill>
                  <a:srgbClr val="F5A623"/>
                </a:solidFill>
                <a:latin typeface="Calibri"/>
              </a:rPr>
              <a:t>THE FINDING</a:t>
            </a:r>
          </a:p>
        </p:txBody>
      </p:sp>
      <p:sp>
        <p:nvSpPr>
          <p:cNvPr id="7" name="TextBox 6"/>
          <p:cNvSpPr txBox="1"/>
          <p:nvPr/>
        </p:nvSpPr>
        <p:spPr>
          <a:xfrm>
            <a:off x="8686800" y="2011680"/>
            <a:ext cx="2697480" cy="1005840"/>
          </a:xfrm>
          <a:prstGeom prst="rect">
            <a:avLst/>
          </a:prstGeom>
          <a:noFill/>
        </p:spPr>
        <p:txBody>
          <a:bodyPr wrap="square" lIns="38100" tIns="25400" rIns="38100" bIns="25400">
            <a:spAutoFit/>
          </a:bodyPr>
          <a:lstStyle/>
          <a:p>
            <a:r>
              <a:rPr sz="1600" b="1" i="0">
                <a:solidFill>
                  <a:srgbClr val="FFFFFF"/>
                </a:solidFill>
                <a:latin typeface="Cambria"/>
              </a:rPr>
              <a:t>It depends on whether pickup floors are concentrated or spread.</a:t>
            </a:r>
          </a:p>
        </p:txBody>
      </p:sp>
      <p:sp>
        <p:nvSpPr>
          <p:cNvPr id="8" name="TextBox 7"/>
          <p:cNvSpPr txBox="1"/>
          <p:nvPr/>
        </p:nvSpPr>
        <p:spPr>
          <a:xfrm>
            <a:off x="8686800" y="3063240"/>
            <a:ext cx="2697480" cy="1051560"/>
          </a:xfrm>
          <a:prstGeom prst="rect">
            <a:avLst/>
          </a:prstGeom>
          <a:noFill/>
        </p:spPr>
        <p:txBody>
          <a:bodyPr wrap="square" lIns="38100" tIns="25400" rIns="38100" bIns="25400">
            <a:spAutoFit/>
          </a:bodyPr>
          <a:lstStyle/>
          <a:p>
            <a:pPr marL="203200" indent="-203200">
              <a:spcAft>
                <a:spcPts val="800"/>
              </a:spcAft>
              <a:buFont typeface="Arial"/>
              <a:buChar char="•"/>
            </a:pPr>
            <a:r>
              <a:rPr sz="1150" b="0" i="0">
                <a:solidFill>
                  <a:srgbClr val="CADCFC"/>
                </a:solidFill>
                <a:latin typeface="Calibri"/>
              </a:rPr>
              <a:t>Up-peak (all at lobby) → round-robin wins.</a:t>
            </a:r>
          </a:p>
          <a:p>
            <a:pPr marL="203200" indent="-203200">
              <a:buFont typeface="Arial"/>
              <a:buChar char="•"/>
            </a:pPr>
            <a:r>
              <a:rPr sz="1150" b="0" i="0">
                <a:solidFill>
                  <a:srgbClr val="CADCFC"/>
                </a:solidFill>
                <a:latin typeface="Calibri"/>
              </a:rPr>
              <a:t>Spread / interfloor → cost-function &amp; Hungarian win (≈ 3× on wait).</a:t>
            </a:r>
          </a:p>
        </p:txBody>
      </p:sp>
      <p:sp>
        <p:nvSpPr>
          <p:cNvPr id="9" name="Rounded Rectangle 8"/>
          <p:cNvSpPr/>
          <p:nvPr/>
        </p:nvSpPr>
        <p:spPr>
          <a:xfrm>
            <a:off x="640080" y="4389120"/>
            <a:ext cx="3520440" cy="178308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868680" y="4572000"/>
            <a:ext cx="274320" cy="274320"/>
          </a:xfrm>
          <a:prstGeom prst="roundRect">
            <a:avLst>
              <a:gd name="adj" fmla="val 12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261872" y="4535424"/>
            <a:ext cx="2697480" cy="365760"/>
          </a:xfrm>
          <a:prstGeom prst="rect">
            <a:avLst/>
          </a:prstGeom>
          <a:noFill/>
        </p:spPr>
        <p:txBody>
          <a:bodyPr wrap="square" lIns="38100" tIns="25400" rIns="38100" bIns="25400" anchor="ctr">
            <a:spAutoFit/>
          </a:bodyPr>
          <a:lstStyle/>
          <a:p>
            <a:r>
              <a:rPr sz="1350" b="1" i="0">
                <a:solidFill>
                  <a:srgbClr val="1E2761"/>
                </a:solidFill>
                <a:latin typeface="Calibri"/>
              </a:rPr>
              <a:t>No universal winner</a:t>
            </a:r>
          </a:p>
        </p:txBody>
      </p:sp>
      <p:sp>
        <p:nvSpPr>
          <p:cNvPr id="12" name="TextBox 11"/>
          <p:cNvSpPr txBox="1"/>
          <p:nvPr/>
        </p:nvSpPr>
        <p:spPr>
          <a:xfrm>
            <a:off x="868680" y="4956048"/>
            <a:ext cx="3108960" cy="1097280"/>
          </a:xfrm>
          <a:prstGeom prst="rect">
            <a:avLst/>
          </a:prstGeom>
          <a:noFill/>
        </p:spPr>
        <p:txBody>
          <a:bodyPr wrap="square" lIns="38100" tIns="25400" rIns="38100" bIns="25400">
            <a:spAutoFit/>
          </a:bodyPr>
          <a:lstStyle/>
          <a:p>
            <a:r>
              <a:rPr sz="1200" b="0" i="0">
                <a:solidFill>
                  <a:srgbClr val="1F2A44"/>
                </a:solidFill>
                <a:latin typeface="Calibri"/>
              </a:rPr>
              <a:t>The dispatch ranking flips with the traffic — position awareness pays off only when origins vary.</a:t>
            </a:r>
          </a:p>
        </p:txBody>
      </p:sp>
      <p:sp>
        <p:nvSpPr>
          <p:cNvPr id="13" name="Rounded Rectangle 12"/>
          <p:cNvSpPr/>
          <p:nvPr/>
        </p:nvSpPr>
        <p:spPr>
          <a:xfrm>
            <a:off x="4343400" y="4389120"/>
            <a:ext cx="3520440" cy="178308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4572000" y="4572000"/>
            <a:ext cx="274320" cy="274320"/>
          </a:xfrm>
          <a:prstGeom prst="roundRect">
            <a:avLst>
              <a:gd name="adj" fmla="val 12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4965192" y="4535424"/>
            <a:ext cx="2697480" cy="365760"/>
          </a:xfrm>
          <a:prstGeom prst="rect">
            <a:avLst/>
          </a:prstGeom>
          <a:noFill/>
        </p:spPr>
        <p:txBody>
          <a:bodyPr wrap="square" lIns="38100" tIns="25400" rIns="38100" bIns="25400" anchor="ctr">
            <a:spAutoFit/>
          </a:bodyPr>
          <a:lstStyle/>
          <a:p>
            <a:r>
              <a:rPr sz="1350" b="1" i="0">
                <a:solidFill>
                  <a:srgbClr val="1E2761"/>
                </a:solidFill>
                <a:latin typeface="Calibri"/>
              </a:rPr>
              <a:t>Zone-based fragments</a:t>
            </a:r>
          </a:p>
        </p:txBody>
      </p:sp>
      <p:sp>
        <p:nvSpPr>
          <p:cNvPr id="16" name="TextBox 15"/>
          <p:cNvSpPr txBox="1"/>
          <p:nvPr/>
        </p:nvSpPr>
        <p:spPr>
          <a:xfrm>
            <a:off x="4572000" y="4956048"/>
            <a:ext cx="3108960" cy="1097280"/>
          </a:xfrm>
          <a:prstGeom prst="rect">
            <a:avLst/>
          </a:prstGeom>
          <a:noFill/>
        </p:spPr>
        <p:txBody>
          <a:bodyPr wrap="square" lIns="38100" tIns="25400" rIns="38100" bIns="25400">
            <a:spAutoFit/>
          </a:bodyPr>
          <a:lstStyle/>
          <a:p>
            <a:r>
              <a:rPr sz="1200" b="0" i="0">
                <a:solidFill>
                  <a:srgbClr val="1F2A44"/>
                </a:solidFill>
                <a:latin typeface="Calibri"/>
              </a:rPr>
              <a:t>Walling off a fungible 16-car fleet consistently hurts (lowest utilization).</a:t>
            </a:r>
          </a:p>
        </p:txBody>
      </p:sp>
      <p:sp>
        <p:nvSpPr>
          <p:cNvPr id="17" name="Rounded Rectangle 16"/>
          <p:cNvSpPr/>
          <p:nvPr/>
        </p:nvSpPr>
        <p:spPr>
          <a:xfrm>
            <a:off x="8046719" y="4389120"/>
            <a:ext cx="3520440" cy="1783080"/>
          </a:xfrm>
          <a:prstGeom prst="roundRect">
            <a:avLst>
              <a:gd name="adj" fmla="val 6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8275319" y="4572000"/>
            <a:ext cx="274320" cy="274320"/>
          </a:xfrm>
          <a:prstGeom prst="roundRect">
            <a:avLst>
              <a:gd name="adj" fmla="val 12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8668511" y="4535424"/>
            <a:ext cx="2697480" cy="365760"/>
          </a:xfrm>
          <a:prstGeom prst="rect">
            <a:avLst/>
          </a:prstGeom>
          <a:noFill/>
        </p:spPr>
        <p:txBody>
          <a:bodyPr wrap="square" lIns="38100" tIns="25400" rIns="38100" bIns="25400" anchor="ctr">
            <a:spAutoFit/>
          </a:bodyPr>
          <a:lstStyle/>
          <a:p>
            <a:r>
              <a:rPr sz="1350" b="1" i="0">
                <a:solidFill>
                  <a:srgbClr val="1E2761"/>
                </a:solidFill>
                <a:latin typeface="Calibri"/>
              </a:rPr>
              <a:t>Engineering rigor</a:t>
            </a:r>
          </a:p>
        </p:txBody>
      </p:sp>
      <p:sp>
        <p:nvSpPr>
          <p:cNvPr id="20" name="TextBox 19"/>
          <p:cNvSpPr txBox="1"/>
          <p:nvPr/>
        </p:nvSpPr>
        <p:spPr>
          <a:xfrm>
            <a:off x="8275319" y="4956048"/>
            <a:ext cx="3108960" cy="1097280"/>
          </a:xfrm>
          <a:prstGeom prst="rect">
            <a:avLst/>
          </a:prstGeom>
          <a:noFill/>
        </p:spPr>
        <p:txBody>
          <a:bodyPr wrap="square" lIns="38100" tIns="25400" rIns="38100" bIns="25400">
            <a:spAutoFit/>
          </a:bodyPr>
          <a:lstStyle/>
          <a:p>
            <a:r>
              <a:rPr sz="1200" b="0" i="0">
                <a:solidFill>
                  <a:srgbClr val="1F2A44"/>
                </a:solidFill>
                <a:latin typeface="Calibri"/>
              </a:rPr>
              <a:t>2 bugs caught by testing (load concentration, FCFS deadlock); load validated as Poisson.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REPLICATED RESULTS · 100 SEEDS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Total time — the objective, confirmed across seeds</a:t>
            </a:r>
          </a:p>
        </p:txBody>
      </p:sp>
      <p:pic>
        <p:nvPicPr>
          <p:cNvPr id="4" name="Picture 3" descr="comparison_chart.png"/>
          <p:cNvPicPr>
            <a:picLocks noChangeAspect="1"/>
          </p:cNvPicPr>
          <p:nvPr/>
        </p:nvPicPr>
        <p:blipFill>
          <a:blip r:embed="rId3"/>
          <a:stretch>
            <a:fillRect/>
          </a:stretch>
        </p:blipFill>
        <p:spPr>
          <a:xfrm>
            <a:off x="320040" y="1481328"/>
            <a:ext cx="6400800" cy="5029200"/>
          </a:xfrm>
          <a:prstGeom prst="rect">
            <a:avLst/>
          </a:prstGeom>
        </p:spPr>
      </p:pic>
      <p:sp>
        <p:nvSpPr>
          <p:cNvPr id="5" name="Rounded Rectangle 4"/>
          <p:cNvSpPr/>
          <p:nvPr/>
        </p:nvSpPr>
        <p:spPr>
          <a:xfrm>
            <a:off x="6858000" y="1481328"/>
            <a:ext cx="4956048" cy="502920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086600" y="1645920"/>
            <a:ext cx="4480560" cy="320040"/>
          </a:xfrm>
          <a:prstGeom prst="rect">
            <a:avLst/>
          </a:prstGeom>
          <a:noFill/>
        </p:spPr>
        <p:txBody>
          <a:bodyPr wrap="square" lIns="38100" tIns="25400" rIns="38100" bIns="25400">
            <a:spAutoFit/>
          </a:bodyPr>
          <a:lstStyle/>
          <a:p>
            <a:r>
              <a:rPr sz="1200" b="1" i="0">
                <a:solidFill>
                  <a:srgbClr val="F5A623"/>
                </a:solidFill>
                <a:latin typeface="Calibri"/>
              </a:rPr>
              <a:t>READING THE CHART</a:t>
            </a:r>
          </a:p>
        </p:txBody>
      </p:sp>
      <p:sp>
        <p:nvSpPr>
          <p:cNvPr id="7" name="TextBox 6"/>
          <p:cNvSpPr txBox="1"/>
          <p:nvPr/>
        </p:nvSpPr>
        <p:spPr>
          <a:xfrm>
            <a:off x="7086600" y="2121408"/>
            <a:ext cx="4572000" cy="4297680"/>
          </a:xfrm>
          <a:prstGeom prst="rect">
            <a:avLst/>
          </a:prstGeom>
          <a:noFill/>
        </p:spPr>
        <p:txBody>
          <a:bodyPr wrap="square" lIns="38100" tIns="25400" rIns="38100" bIns="25400">
            <a:spAutoFit/>
          </a:bodyPr>
          <a:lstStyle/>
          <a:p>
            <a:pPr marL="152400" indent="-152400">
              <a:spcAft>
                <a:spcPts val="900"/>
              </a:spcAft>
              <a:buFont typeface="Arial"/>
              <a:buChar char="•"/>
            </a:pPr>
            <a:r>
              <a:rPr sz="1200" b="1" i="0">
                <a:solidFill>
                  <a:srgbClr val="1E2761"/>
                </a:solidFill>
                <a:latin typeface="Calibri"/>
              </a:rPr>
              <a:t>Finding holds across 100 seeds:</a:t>
            </a:r>
            <a:r>
              <a:rPr sz="1200" b="0" i="0">
                <a:solidFill>
                  <a:srgbClr val="1F2A44"/>
                </a:solidFill>
                <a:latin typeface="Calibri"/>
              </a:rPr>
              <a:t> up-peak → round-robin (121); down-peak → cost-function (100); uniform → cost-fn / Hungarian tie (≈40).</a:t>
            </a:r>
          </a:p>
          <a:p>
            <a:pPr marL="152400" indent="-152400">
              <a:spcAft>
                <a:spcPts val="900"/>
              </a:spcAft>
              <a:buFont typeface="Arial"/>
              <a:buChar char="•"/>
            </a:pPr>
            <a:r>
              <a:rPr sz="1200" b="1" i="0">
                <a:solidFill>
                  <a:srgbClr val="1E2761"/>
                </a:solidFill>
                <a:latin typeface="Calibri"/>
              </a:rPr>
              <a:t>The max row is the real tell:</a:t>
            </a:r>
            <a:r>
              <a:rPr sz="1200" b="0" i="0">
                <a:solidFill>
                  <a:srgbClr val="1F2A44"/>
                </a:solidFill>
                <a:latin typeface="Calibri"/>
              </a:rPr>
              <a:t> the smart policies’ worst-case total runs ≈2–3× lower than nearest-car / zone.</a:t>
            </a:r>
          </a:p>
          <a:p>
            <a:pPr marL="152400" indent="-152400">
              <a:spcAft>
                <a:spcPts val="900"/>
              </a:spcAft>
              <a:buFont typeface="Arial"/>
              <a:buChar char="•"/>
            </a:pPr>
            <a:r>
              <a:rPr sz="1200" b="1" i="0">
                <a:solidFill>
                  <a:srgbClr val="1E2761"/>
                </a:solidFill>
                <a:latin typeface="Calibri"/>
              </a:rPr>
              <a:t>Up-peak tightest for round-robin &amp; fcfs:</a:t>
            </a:r>
            <a:r>
              <a:rPr sz="1200" b="0" i="0">
                <a:solidFill>
                  <a:srgbClr val="1F2A44"/>
                </a:solidFill>
                <a:latin typeface="Calibri"/>
              </a:rPr>
              <a:t> blind even-spread never lets one car fall far behind (max ≈264).</a:t>
            </a:r>
          </a:p>
          <a:p>
            <a:pPr marL="152400" indent="-152400">
              <a:spcAft>
                <a:spcPts val="900"/>
              </a:spcAft>
              <a:buFont typeface="Arial"/>
              <a:buChar char="•"/>
            </a:pPr>
            <a:r>
              <a:rPr sz="1200" b="1" i="0">
                <a:solidFill>
                  <a:srgbClr val="1E2761"/>
                </a:solidFill>
                <a:latin typeface="Calibri"/>
              </a:rPr>
              <a:t>Min ≈ 4 for everyone</a:t>
            </a:r>
            <a:r>
              <a:rPr sz="1200" b="0" i="0">
                <a:solidFill>
                  <a:srgbClr val="1F2A44"/>
                </a:solidFill>
                <a:latin typeface="Calibri"/>
              </a:rPr>
              <a:t> — the luckiest rider is near-constant, so that row barely separates policies.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REPLICATED RESULTS · 100 SEEDS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Wait time — where the policies actually separate</a:t>
            </a:r>
          </a:p>
        </p:txBody>
      </p:sp>
      <p:pic>
        <p:nvPicPr>
          <p:cNvPr id="4" name="Picture 3" descr="comparison_chart_wait.png"/>
          <p:cNvPicPr>
            <a:picLocks noChangeAspect="1"/>
          </p:cNvPicPr>
          <p:nvPr/>
        </p:nvPicPr>
        <p:blipFill>
          <a:blip r:embed="rId3"/>
          <a:stretch>
            <a:fillRect/>
          </a:stretch>
        </p:blipFill>
        <p:spPr>
          <a:xfrm>
            <a:off x="320040" y="1481328"/>
            <a:ext cx="6400800" cy="5120640"/>
          </a:xfrm>
          <a:prstGeom prst="rect">
            <a:avLst/>
          </a:prstGeom>
        </p:spPr>
      </p:pic>
      <p:sp>
        <p:nvSpPr>
          <p:cNvPr id="5" name="Rounded Rectangle 4"/>
          <p:cNvSpPr/>
          <p:nvPr/>
        </p:nvSpPr>
        <p:spPr>
          <a:xfrm>
            <a:off x="6858000" y="1481328"/>
            <a:ext cx="4956048" cy="502920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086600" y="1645920"/>
            <a:ext cx="4480560" cy="320040"/>
          </a:xfrm>
          <a:prstGeom prst="rect">
            <a:avLst/>
          </a:prstGeom>
          <a:noFill/>
        </p:spPr>
        <p:txBody>
          <a:bodyPr wrap="square" lIns="38100" tIns="25400" rIns="38100" bIns="25400">
            <a:spAutoFit/>
          </a:bodyPr>
          <a:lstStyle/>
          <a:p>
            <a:r>
              <a:rPr sz="1200" b="1" i="0">
                <a:solidFill>
                  <a:srgbClr val="F5A623"/>
                </a:solidFill>
                <a:latin typeface="Calibri"/>
              </a:rPr>
              <a:t>READING THE CHART</a:t>
            </a:r>
          </a:p>
        </p:txBody>
      </p:sp>
      <p:sp>
        <p:nvSpPr>
          <p:cNvPr id="7" name="TextBox 6"/>
          <p:cNvSpPr txBox="1"/>
          <p:nvPr/>
        </p:nvSpPr>
        <p:spPr>
          <a:xfrm>
            <a:off x="7086600" y="2121408"/>
            <a:ext cx="4572000" cy="4297680"/>
          </a:xfrm>
          <a:prstGeom prst="rect">
            <a:avLst/>
          </a:prstGeom>
          <a:noFill/>
        </p:spPr>
        <p:txBody>
          <a:bodyPr wrap="square" lIns="38100" tIns="25400" rIns="38100" bIns="25400">
            <a:spAutoFit/>
          </a:bodyPr>
          <a:lstStyle/>
          <a:p>
            <a:pPr marL="152400" indent="-152400">
              <a:spcAft>
                <a:spcPts val="900"/>
              </a:spcAft>
              <a:buFont typeface="Arial"/>
              <a:buChar char="•"/>
            </a:pPr>
            <a:r>
              <a:rPr sz="1200" b="1" i="0">
                <a:solidFill>
                  <a:srgbClr val="1E2761"/>
                </a:solidFill>
                <a:latin typeface="Calibri"/>
              </a:rPr>
              <a:t>Wait is the axis that decides winners</a:t>
            </a:r>
            <a:r>
              <a:rPr sz="1200" b="0" i="0">
                <a:solidFill>
                  <a:srgbClr val="1F2A44"/>
                </a:solidFill>
                <a:latin typeface="Calibri"/>
              </a:rPr>
              <a:t> — travel is nearly flat, so almost the entire objective gap is wait.</a:t>
            </a:r>
          </a:p>
          <a:p>
            <a:pPr marL="152400" indent="-152400">
              <a:spcAft>
                <a:spcPts val="900"/>
              </a:spcAft>
              <a:buFont typeface="Arial"/>
              <a:buChar char="•"/>
            </a:pPr>
            <a:r>
              <a:rPr sz="1200" b="1" i="0">
                <a:solidFill>
                  <a:srgbClr val="1E2761"/>
                </a:solidFill>
                <a:latin typeface="Calibri"/>
              </a:rPr>
              <a:t>Spread pickups → smart policies slash the tail:</a:t>
            </a:r>
            <a:r>
              <a:rPr sz="1200" b="0" i="0">
                <a:solidFill>
                  <a:srgbClr val="1F2A44"/>
                </a:solidFill>
                <a:latin typeface="Calibri"/>
              </a:rPr>
              <a:t> uniform p90 wait is 30 (cost-fn) / 19 (Hungarian) vs 309 (zone).</a:t>
            </a:r>
          </a:p>
          <a:p>
            <a:pPr marL="152400" indent="-152400">
              <a:spcAft>
                <a:spcPts val="900"/>
              </a:spcAft>
              <a:buFont typeface="Arial"/>
              <a:buChar char="•"/>
            </a:pPr>
            <a:r>
              <a:rPr sz="1200" b="1" i="0">
                <a:solidFill>
                  <a:srgbClr val="1E2761"/>
                </a:solidFill>
                <a:latin typeface="Calibri"/>
              </a:rPr>
              <a:t>Zone-based has the worst tail everywhere</a:t>
            </a:r>
            <a:r>
              <a:rPr sz="1200" b="0" i="0">
                <a:solidFill>
                  <a:srgbClr val="1F2A44"/>
                </a:solidFill>
                <a:latin typeface="Calibri"/>
              </a:rPr>
              <a:t> — fragmenting a fungible fleet strands the unlucky rider.</a:t>
            </a:r>
          </a:p>
          <a:p>
            <a:pPr marL="152400" indent="-152400">
              <a:spcAft>
                <a:spcPts val="900"/>
              </a:spcAft>
              <a:buFont typeface="Arial"/>
              <a:buChar char="•"/>
            </a:pPr>
            <a:r>
              <a:rPr sz="1200" b="1" i="0">
                <a:solidFill>
                  <a:srgbClr val="1E2761"/>
                </a:solidFill>
                <a:latin typeface="Calibri"/>
              </a:rPr>
              <a:t>Up-peak flips it:</a:t>
            </a:r>
            <a:r>
              <a:rPr sz="1200" b="0" i="0">
                <a:solidFill>
                  <a:srgbClr val="1F2A44"/>
                </a:solidFill>
                <a:latin typeface="Calibri"/>
              </a:rPr>
              <a:t> round-robin wins even the p90 tail (171) — every pickup shares the lobby.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REPLICATED RESULTS · 100 SEEDS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Travel time — a flat, low-leverage axis</a:t>
            </a:r>
          </a:p>
        </p:txBody>
      </p:sp>
      <p:pic>
        <p:nvPicPr>
          <p:cNvPr id="4" name="Picture 3" descr="comparison_chart_travel.png"/>
          <p:cNvPicPr>
            <a:picLocks noChangeAspect="1"/>
          </p:cNvPicPr>
          <p:nvPr/>
        </p:nvPicPr>
        <p:blipFill>
          <a:blip r:embed="rId3"/>
          <a:stretch>
            <a:fillRect/>
          </a:stretch>
        </p:blipFill>
        <p:spPr>
          <a:xfrm>
            <a:off x="320040" y="1481328"/>
            <a:ext cx="6400800" cy="5120640"/>
          </a:xfrm>
          <a:prstGeom prst="rect">
            <a:avLst/>
          </a:prstGeom>
        </p:spPr>
      </p:pic>
      <p:sp>
        <p:nvSpPr>
          <p:cNvPr id="5" name="Rounded Rectangle 4"/>
          <p:cNvSpPr/>
          <p:nvPr/>
        </p:nvSpPr>
        <p:spPr>
          <a:xfrm>
            <a:off x="6858000" y="1481328"/>
            <a:ext cx="4956048" cy="502920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086600" y="1645920"/>
            <a:ext cx="4480560" cy="320040"/>
          </a:xfrm>
          <a:prstGeom prst="rect">
            <a:avLst/>
          </a:prstGeom>
          <a:noFill/>
        </p:spPr>
        <p:txBody>
          <a:bodyPr wrap="square" lIns="38100" tIns="25400" rIns="38100" bIns="25400">
            <a:spAutoFit/>
          </a:bodyPr>
          <a:lstStyle/>
          <a:p>
            <a:r>
              <a:rPr sz="1200" b="1" i="0">
                <a:solidFill>
                  <a:srgbClr val="F5A623"/>
                </a:solidFill>
                <a:latin typeface="Calibri"/>
              </a:rPr>
              <a:t>READING THE CHART</a:t>
            </a:r>
          </a:p>
        </p:txBody>
      </p:sp>
      <p:sp>
        <p:nvSpPr>
          <p:cNvPr id="7" name="TextBox 6"/>
          <p:cNvSpPr txBox="1"/>
          <p:nvPr/>
        </p:nvSpPr>
        <p:spPr>
          <a:xfrm>
            <a:off x="7086600" y="2121408"/>
            <a:ext cx="4572000" cy="4297680"/>
          </a:xfrm>
          <a:prstGeom prst="rect">
            <a:avLst/>
          </a:prstGeom>
          <a:noFill/>
        </p:spPr>
        <p:txBody>
          <a:bodyPr wrap="square" lIns="38100" tIns="25400" rIns="38100" bIns="25400">
            <a:spAutoFit/>
          </a:bodyPr>
          <a:lstStyle/>
          <a:p>
            <a:pPr marL="152400" indent="-152400">
              <a:spcAft>
                <a:spcPts val="900"/>
              </a:spcAft>
              <a:buFont typeface="Arial"/>
              <a:buChar char="•"/>
            </a:pPr>
            <a:r>
              <a:rPr sz="1200" b="1" i="0">
                <a:solidFill>
                  <a:srgbClr val="1E2761"/>
                </a:solidFill>
                <a:latin typeface="Calibri"/>
              </a:rPr>
              <a:t>Once onboard, motion is solved:</a:t>
            </a:r>
            <a:r>
              <a:rPr sz="1200" b="0" i="0">
                <a:solidFill>
                  <a:srgbClr val="1F2A44"/>
                </a:solidFill>
                <a:latin typeface="Calibri"/>
              </a:rPr>
              <a:t> LOOK sequences stops well no matter which car dispatch picked, so avg travel clusters tightly.</a:t>
            </a:r>
          </a:p>
          <a:p>
            <a:pPr marL="152400" indent="-152400">
              <a:spcAft>
                <a:spcPts val="900"/>
              </a:spcAft>
              <a:buFont typeface="Arial"/>
              <a:buChar char="•"/>
            </a:pPr>
            <a:r>
              <a:rPr sz="1200" b="1" i="0">
                <a:solidFill>
                  <a:srgbClr val="1E2761"/>
                </a:solidFill>
                <a:latin typeface="Calibri"/>
              </a:rPr>
              <a:t>This is why the policy gaps live in wait, not travel.</a:t>
            </a:r>
          </a:p>
          <a:p>
            <a:pPr marL="152400" indent="-152400">
              <a:spcAft>
                <a:spcPts val="900"/>
              </a:spcAft>
              <a:buFont typeface="Arial"/>
              <a:buChar char="•"/>
            </a:pPr>
            <a:r>
              <a:rPr sz="1200" b="1" i="0">
                <a:solidFill>
                  <a:srgbClr val="1E2761"/>
                </a:solidFill>
                <a:latin typeface="Calibri"/>
              </a:rPr>
              <a:t>fcfs+rr max travel on uniform = 262</a:t>
            </a:r>
            <a:r>
              <a:rPr sz="1200" b="0" i="0">
                <a:solidFill>
                  <a:srgbClr val="1F2A44"/>
                </a:solidFill>
                <a:latin typeface="Calibri"/>
              </a:rPr>
              <a:t> (vs ≈ 90–110 for LOOK) — the FCFS motion penalty: arrival-order stops thrash the car across the building.</a:t>
            </a:r>
          </a:p>
          <a:p>
            <a:pPr marL="152400" indent="-152400">
              <a:spcAft>
                <a:spcPts val="900"/>
              </a:spcAft>
              <a:buFont typeface="Arial"/>
              <a:buChar char="•"/>
            </a:pPr>
            <a:r>
              <a:rPr sz="1200" b="1" i="0">
                <a:solidFill>
                  <a:srgbClr val="1E2761"/>
                </a:solidFill>
                <a:latin typeface="Calibri"/>
              </a:rPr>
              <a:t>Zone’s low avg travel is a fragmentation artifact</a:t>
            </a:r>
            <a:r>
              <a:rPr sz="1200" b="0" i="0">
                <a:solidFill>
                  <a:srgbClr val="1F2A44"/>
                </a:solidFill>
                <a:latin typeface="Calibri"/>
              </a:rPr>
              <a:t> — shorter rides because cars are under-used, not smarter routing.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REPLICATED RESULTS · 100 SEEDS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Efficiency — utilization is the real diagnostic</a:t>
            </a:r>
          </a:p>
        </p:txBody>
      </p:sp>
      <p:pic>
        <p:nvPicPr>
          <p:cNvPr id="4" name="Picture 3" descr="comparison_chart_efficiency.png"/>
          <p:cNvPicPr>
            <a:picLocks noChangeAspect="1"/>
          </p:cNvPicPr>
          <p:nvPr/>
        </p:nvPicPr>
        <p:blipFill>
          <a:blip r:embed="rId3"/>
          <a:stretch>
            <a:fillRect/>
          </a:stretch>
        </p:blipFill>
        <p:spPr>
          <a:xfrm>
            <a:off x="320040" y="1481328"/>
            <a:ext cx="6400800" cy="5120640"/>
          </a:xfrm>
          <a:prstGeom prst="rect">
            <a:avLst/>
          </a:prstGeom>
        </p:spPr>
      </p:pic>
      <p:sp>
        <p:nvSpPr>
          <p:cNvPr id="5" name="Rounded Rectangle 4"/>
          <p:cNvSpPr/>
          <p:nvPr/>
        </p:nvSpPr>
        <p:spPr>
          <a:xfrm>
            <a:off x="6858000" y="1481328"/>
            <a:ext cx="4956048" cy="502920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086600" y="1645920"/>
            <a:ext cx="4480560" cy="320040"/>
          </a:xfrm>
          <a:prstGeom prst="rect">
            <a:avLst/>
          </a:prstGeom>
          <a:noFill/>
        </p:spPr>
        <p:txBody>
          <a:bodyPr wrap="square" lIns="38100" tIns="25400" rIns="38100" bIns="25400">
            <a:spAutoFit/>
          </a:bodyPr>
          <a:lstStyle/>
          <a:p>
            <a:r>
              <a:rPr sz="1200" b="1" i="0">
                <a:solidFill>
                  <a:srgbClr val="F5A623"/>
                </a:solidFill>
                <a:latin typeface="Calibri"/>
              </a:rPr>
              <a:t>READING THE CHART</a:t>
            </a:r>
          </a:p>
        </p:txBody>
      </p:sp>
      <p:sp>
        <p:nvSpPr>
          <p:cNvPr id="7" name="TextBox 6"/>
          <p:cNvSpPr txBox="1"/>
          <p:nvPr/>
        </p:nvSpPr>
        <p:spPr>
          <a:xfrm>
            <a:off x="7086600" y="2121408"/>
            <a:ext cx="4572000" cy="4297680"/>
          </a:xfrm>
          <a:prstGeom prst="rect">
            <a:avLst/>
          </a:prstGeom>
          <a:noFill/>
        </p:spPr>
        <p:txBody>
          <a:bodyPr wrap="square" lIns="38100" tIns="25400" rIns="38100" bIns="25400">
            <a:spAutoFit/>
          </a:bodyPr>
          <a:lstStyle/>
          <a:p>
            <a:pPr marL="152400" indent="-152400">
              <a:spcAft>
                <a:spcPts val="900"/>
              </a:spcAft>
              <a:buFont typeface="Arial"/>
              <a:buChar char="•"/>
            </a:pPr>
            <a:r>
              <a:rPr sz="1200" b="1" i="0">
                <a:solidFill>
                  <a:srgbClr val="1E2761"/>
                </a:solidFill>
                <a:latin typeface="Calibri"/>
              </a:rPr>
              <a:t>Utilization explains the time results:</a:t>
            </a:r>
            <a:r>
              <a:rPr sz="1200" b="0" i="0">
                <a:solidFill>
                  <a:srgbClr val="1F2A44"/>
                </a:solidFill>
                <a:latin typeface="Calibri"/>
              </a:rPr>
              <a:t> the winners (round-robin, cost-fn, fcfs) keep ρ ≈ 0.9+.</a:t>
            </a:r>
          </a:p>
          <a:p>
            <a:pPr marL="152400" indent="-152400">
              <a:spcAft>
                <a:spcPts val="900"/>
              </a:spcAft>
              <a:buFont typeface="Arial"/>
              <a:buChar char="•"/>
            </a:pPr>
            <a:r>
              <a:rPr sz="1200" b="1" i="0">
                <a:solidFill>
                  <a:srgbClr val="1E2761"/>
                </a:solidFill>
                <a:latin typeface="Calibri"/>
              </a:rPr>
              <a:t>Idle fleets lose:</a:t>
            </a:r>
            <a:r>
              <a:rPr sz="1200" b="0" i="0">
                <a:solidFill>
                  <a:srgbClr val="1F2A44"/>
                </a:solidFill>
                <a:latin typeface="Calibri"/>
              </a:rPr>
              <a:t> nearest-car &amp; zone park cars (ρ 0.33–0.58) — the direct cause of their bad wait.</a:t>
            </a:r>
          </a:p>
          <a:p>
            <a:pPr marL="152400" indent="-152400">
              <a:spcAft>
                <a:spcPts val="900"/>
              </a:spcAft>
              <a:buFont typeface="Arial"/>
              <a:buChar char="•"/>
            </a:pPr>
            <a:r>
              <a:rPr sz="1200" b="1" i="0">
                <a:solidFill>
                  <a:srgbClr val="1E2761"/>
                </a:solidFill>
                <a:latin typeface="Calibri"/>
              </a:rPr>
              <a:t>Low distance is a trap:</a:t>
            </a:r>
            <a:r>
              <a:rPr sz="1200" b="0" i="0">
                <a:solidFill>
                  <a:srgbClr val="1F2A44"/>
                </a:solidFill>
                <a:latin typeface="Calibri"/>
              </a:rPr>
              <a:t> zone “moves least” only because a third of its cars sit idle.</a:t>
            </a:r>
          </a:p>
          <a:p>
            <a:pPr marL="152400" indent="-152400">
              <a:spcAft>
                <a:spcPts val="900"/>
              </a:spcAft>
              <a:buFont typeface="Arial"/>
              <a:buChar char="•"/>
            </a:pPr>
            <a:r>
              <a:rPr sz="1200" b="1" i="0">
                <a:solidFill>
                  <a:srgbClr val="1E2761"/>
                </a:solidFill>
                <a:latin typeface="Calibri"/>
              </a:rPr>
              <a:t>ρ is left unmarked on purpose</a:t>
            </a:r>
            <a:r>
              <a:rPr sz="1200" b="0" i="0">
                <a:solidFill>
                  <a:srgbClr val="1F2A44"/>
                </a:solidFill>
                <a:latin typeface="Calibri"/>
              </a:rPr>
              <a:t> (very high ρ can mean near the congestion cliff); throughput tracks who drains fastest.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REPLICATED RESULTS · 100 SEEDS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Pooling — when good numbers mislead</a:t>
            </a:r>
          </a:p>
        </p:txBody>
      </p:sp>
      <p:pic>
        <p:nvPicPr>
          <p:cNvPr id="4" name="Picture 3" descr="comparison_chart_pooling.png"/>
          <p:cNvPicPr>
            <a:picLocks noChangeAspect="1"/>
          </p:cNvPicPr>
          <p:nvPr/>
        </p:nvPicPr>
        <p:blipFill>
          <a:blip r:embed="rId3"/>
          <a:stretch>
            <a:fillRect/>
          </a:stretch>
        </p:blipFill>
        <p:spPr>
          <a:xfrm>
            <a:off x="320040" y="2377440"/>
            <a:ext cx="6400800" cy="3566160"/>
          </a:xfrm>
          <a:prstGeom prst="rect">
            <a:avLst/>
          </a:prstGeom>
        </p:spPr>
      </p:pic>
      <p:sp>
        <p:nvSpPr>
          <p:cNvPr id="5" name="Rounded Rectangle 4"/>
          <p:cNvSpPr/>
          <p:nvPr/>
        </p:nvSpPr>
        <p:spPr>
          <a:xfrm>
            <a:off x="6858000" y="1481328"/>
            <a:ext cx="4956048" cy="502920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086600" y="1645920"/>
            <a:ext cx="4480560" cy="320040"/>
          </a:xfrm>
          <a:prstGeom prst="rect">
            <a:avLst/>
          </a:prstGeom>
          <a:noFill/>
        </p:spPr>
        <p:txBody>
          <a:bodyPr wrap="square" lIns="38100" tIns="25400" rIns="38100" bIns="25400">
            <a:spAutoFit/>
          </a:bodyPr>
          <a:lstStyle/>
          <a:p>
            <a:r>
              <a:rPr sz="1200" b="1" i="0">
                <a:solidFill>
                  <a:srgbClr val="F5A623"/>
                </a:solidFill>
                <a:latin typeface="Calibri"/>
              </a:rPr>
              <a:t>READING THE CHART</a:t>
            </a:r>
          </a:p>
        </p:txBody>
      </p:sp>
      <p:sp>
        <p:nvSpPr>
          <p:cNvPr id="7" name="TextBox 6"/>
          <p:cNvSpPr txBox="1"/>
          <p:nvPr/>
        </p:nvSpPr>
        <p:spPr>
          <a:xfrm>
            <a:off x="7086600" y="2121408"/>
            <a:ext cx="4572000" cy="4297680"/>
          </a:xfrm>
          <a:prstGeom prst="rect">
            <a:avLst/>
          </a:prstGeom>
          <a:noFill/>
        </p:spPr>
        <p:txBody>
          <a:bodyPr wrap="square" lIns="38100" tIns="25400" rIns="38100" bIns="25400">
            <a:spAutoFit/>
          </a:bodyPr>
          <a:lstStyle/>
          <a:p>
            <a:pPr marL="152400" indent="-152400">
              <a:spcAft>
                <a:spcPts val="900"/>
              </a:spcAft>
              <a:buFont typeface="Arial"/>
              <a:buChar char="•"/>
            </a:pPr>
            <a:r>
              <a:rPr sz="1200" b="1" i="0">
                <a:solidFill>
                  <a:srgbClr val="1E2761"/>
                </a:solidFill>
                <a:latin typeface="Calibri"/>
              </a:rPr>
              <a:t>Zone-based “wins” both pooling rows</a:t>
            </a:r>
            <a:r>
              <a:rPr sz="1200" b="0" i="0">
                <a:solidFill>
                  <a:srgbClr val="1F2A44"/>
                </a:solidFill>
                <a:latin typeface="Calibri"/>
              </a:rPr>
              <a:t> — lowest distance-per-passenger, highest passengers-per-stop.</a:t>
            </a:r>
          </a:p>
          <a:p>
            <a:pPr marL="152400" indent="-152400">
              <a:spcAft>
                <a:spcPts val="900"/>
              </a:spcAft>
              <a:buFont typeface="Arial"/>
              <a:buChar char="•"/>
            </a:pPr>
            <a:r>
              <a:rPr sz="1200" b="1" i="0">
                <a:solidFill>
                  <a:srgbClr val="1E2761"/>
                </a:solidFill>
                <a:latin typeface="Calibri"/>
              </a:rPr>
              <a:t>But it’s a fragmentation artifact:</a:t>
            </a:r>
            <a:r>
              <a:rPr sz="1200" b="0" i="0">
                <a:solidFill>
                  <a:srgbClr val="1F2A44"/>
                </a:solidFill>
                <a:latin typeface="Calibri"/>
              </a:rPr>
              <a:t> it packs riders into fewer cars, so the cars that do run are fuller.</a:t>
            </a:r>
          </a:p>
          <a:p>
            <a:pPr marL="152400" indent="-152400">
              <a:spcAft>
                <a:spcPts val="900"/>
              </a:spcAft>
              <a:buFont typeface="Arial"/>
              <a:buChar char="•"/>
            </a:pPr>
            <a:r>
              <a:rPr sz="1200" b="1" i="0">
                <a:solidFill>
                  <a:srgbClr val="1E2761"/>
                </a:solidFill>
                <a:latin typeface="Calibri"/>
              </a:rPr>
              <a:t>Read pooling against utilization:</a:t>
            </a:r>
            <a:r>
              <a:rPr sz="1200" b="0" i="0">
                <a:solidFill>
                  <a:srgbClr val="1F2A44"/>
                </a:solidFill>
                <a:latin typeface="Calibri"/>
              </a:rPr>
              <a:t> zone looks pooling-efficient precisely because it under-uses the fleet.</a:t>
            </a:r>
          </a:p>
          <a:p>
            <a:pPr marL="152400" indent="-152400">
              <a:spcAft>
                <a:spcPts val="900"/>
              </a:spcAft>
              <a:buFont typeface="Arial"/>
              <a:buChar char="•"/>
            </a:pPr>
            <a:r>
              <a:rPr sz="1200" b="1" i="0">
                <a:solidFill>
                  <a:srgbClr val="1E2761"/>
                </a:solidFill>
                <a:latin typeface="Calibri"/>
              </a:rPr>
              <a:t>passengers-per-stop &lt; 1 on uniform</a:t>
            </a:r>
            <a:r>
              <a:rPr sz="1200" b="0" i="0">
                <a:solidFill>
                  <a:srgbClr val="1F2A44"/>
                </a:solidFill>
                <a:latin typeface="Calibri"/>
              </a:rPr>
              <a:t> — spread pickups mean many single-rider stops for every policy.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38100" tIns="25400" rIns="38100" bIns="25400">
            <a:spAutoFit/>
          </a:bodyPr>
          <a:lstStyle/>
          <a:p>
            <a:r>
              <a:rPr sz="1200" b="1" i="0">
                <a:solidFill>
                  <a:srgbClr val="F5A623"/>
                </a:solidFill>
                <a:latin typeface="Calibri"/>
              </a:rPr>
              <a:t>HEAD-TO-HEAD · WHY THE WINNER FLIPS</a:t>
            </a:r>
          </a:p>
        </p:txBody>
      </p:sp>
      <p:sp>
        <p:nvSpPr>
          <p:cNvPr id="3" name="TextBox 2"/>
          <p:cNvSpPr txBox="1"/>
          <p:nvPr/>
        </p:nvSpPr>
        <p:spPr>
          <a:xfrm>
            <a:off x="548640" y="603504"/>
            <a:ext cx="11064240" cy="685800"/>
          </a:xfrm>
          <a:prstGeom prst="rect">
            <a:avLst/>
          </a:prstGeom>
          <a:noFill/>
        </p:spPr>
        <p:txBody>
          <a:bodyPr wrap="square" lIns="38100" tIns="25400" rIns="38100" bIns="25400">
            <a:spAutoFit/>
          </a:bodyPr>
          <a:lstStyle/>
          <a:p>
            <a:r>
              <a:rPr sz="2900" b="1" i="0">
                <a:solidFill>
                  <a:srgbClr val="1E2761"/>
                </a:solidFill>
                <a:latin typeface="Cambria"/>
              </a:rPr>
              <a:t>Round-robin vs cost-function — the gap is always wait</a:t>
            </a:r>
          </a:p>
        </p:txBody>
      </p:sp>
      <p:sp>
        <p:nvSpPr>
          <p:cNvPr id="4" name="TextBox 3"/>
          <p:cNvSpPr txBox="1"/>
          <p:nvPr/>
        </p:nvSpPr>
        <p:spPr>
          <a:xfrm>
            <a:off x="548640" y="1280160"/>
            <a:ext cx="11064240" cy="274320"/>
          </a:xfrm>
          <a:prstGeom prst="rect">
            <a:avLst/>
          </a:prstGeom>
          <a:noFill/>
        </p:spPr>
        <p:txBody>
          <a:bodyPr wrap="square" lIns="38100" tIns="25400" rIns="38100" bIns="25400">
            <a:spAutoFit/>
          </a:bodyPr>
          <a:lstStyle/>
          <a:p>
            <a:r>
              <a:rPr sz="1000" b="0" i="1">
                <a:solidFill>
                  <a:srgbClr val="5B6B86"/>
                </a:solidFill>
                <a:latin typeface="Calibri"/>
              </a:rPr>
              <a:t>Mean over 100 seeds (ticks). Top table = time decomposition; bottom = fleet &amp; pooling.   ρ = utilization · thru = throughput · d/pax = distance per passenger · p/stop = passengers per stop.</a:t>
            </a:r>
          </a:p>
        </p:txBody>
      </p:sp>
      <p:sp>
        <p:nvSpPr>
          <p:cNvPr id="5" name="Rounded Rectangle 4"/>
          <p:cNvSpPr/>
          <p:nvPr/>
        </p:nvSpPr>
        <p:spPr>
          <a:xfrm>
            <a:off x="457200" y="1700784"/>
            <a:ext cx="3566160" cy="292608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621792" y="1828800"/>
            <a:ext cx="1417320" cy="384048"/>
          </a:xfrm>
          <a:prstGeom prst="roundRect">
            <a:avLst>
              <a:gd name="adj" fmla="val 10000"/>
            </a:avLst>
          </a:prstGeom>
          <a:solidFill>
            <a:srgbClr val="E08A3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621792" y="1828800"/>
            <a:ext cx="1417320" cy="384048"/>
          </a:xfrm>
          <a:prstGeom prst="rect">
            <a:avLst/>
          </a:prstGeom>
          <a:noFill/>
        </p:spPr>
        <p:txBody>
          <a:bodyPr wrap="square" lIns="38100" tIns="25400" rIns="38100" bIns="25400" anchor="ctr">
            <a:spAutoFit/>
          </a:bodyPr>
          <a:lstStyle/>
          <a:p>
            <a:pPr algn="ctr"/>
            <a:r>
              <a:rPr sz="1100" b="1" i="0">
                <a:solidFill>
                  <a:srgbClr val="FFFFFF"/>
                </a:solidFill>
                <a:latin typeface="Courier New"/>
              </a:rPr>
              <a:t>up_peak</a:t>
            </a:r>
          </a:p>
        </p:txBody>
      </p:sp>
      <p:sp>
        <p:nvSpPr>
          <p:cNvPr id="8" name="TextBox 7"/>
          <p:cNvSpPr txBox="1"/>
          <p:nvPr/>
        </p:nvSpPr>
        <p:spPr>
          <a:xfrm>
            <a:off x="2139696" y="1828800"/>
            <a:ext cx="1792224" cy="384048"/>
          </a:xfrm>
          <a:prstGeom prst="rect">
            <a:avLst/>
          </a:prstGeom>
          <a:noFill/>
        </p:spPr>
        <p:txBody>
          <a:bodyPr wrap="square" lIns="38100" tIns="25400" rIns="38100" bIns="25400" anchor="ctr">
            <a:spAutoFit/>
          </a:bodyPr>
          <a:lstStyle/>
          <a:p>
            <a:r>
              <a:rPr sz="1000" b="0" i="0">
                <a:solidFill>
                  <a:srgbClr val="2E9E8F"/>
                </a:solidFill>
                <a:latin typeface="Calibri"/>
              </a:rPr>
              <a:t>▶ </a:t>
            </a:r>
            <a:r>
              <a:rPr sz="1050" b="1" i="0">
                <a:solidFill>
                  <a:srgbClr val="1E2761"/>
                </a:solidFill>
                <a:latin typeface="Calibri"/>
              </a:rPr>
              <a:t>round-robin wins</a:t>
            </a:r>
          </a:p>
        </p:txBody>
      </p:sp>
      <p:sp>
        <p:nvSpPr>
          <p:cNvPr id="9" name="TextBox 8"/>
          <p:cNvSpPr txBox="1"/>
          <p:nvPr/>
        </p:nvSpPr>
        <p:spPr>
          <a:xfrm>
            <a:off x="1508760"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wait</a:t>
            </a:r>
          </a:p>
        </p:txBody>
      </p:sp>
      <p:sp>
        <p:nvSpPr>
          <p:cNvPr id="10" name="TextBox 9"/>
          <p:cNvSpPr txBox="1"/>
          <p:nvPr/>
        </p:nvSpPr>
        <p:spPr>
          <a:xfrm>
            <a:off x="2304288"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travel</a:t>
            </a:r>
          </a:p>
        </p:txBody>
      </p:sp>
      <p:sp>
        <p:nvSpPr>
          <p:cNvPr id="11" name="TextBox 10"/>
          <p:cNvSpPr txBox="1"/>
          <p:nvPr/>
        </p:nvSpPr>
        <p:spPr>
          <a:xfrm>
            <a:off x="3154680"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total</a:t>
            </a:r>
          </a:p>
        </p:txBody>
      </p:sp>
      <p:sp>
        <p:nvSpPr>
          <p:cNvPr id="12" name="Rounded Rectangle 11"/>
          <p:cNvSpPr/>
          <p:nvPr/>
        </p:nvSpPr>
        <p:spPr>
          <a:xfrm>
            <a:off x="566928" y="2505456"/>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40080" y="2523744"/>
            <a:ext cx="914400" cy="292608"/>
          </a:xfrm>
          <a:prstGeom prst="rect">
            <a:avLst/>
          </a:prstGeom>
          <a:noFill/>
        </p:spPr>
        <p:txBody>
          <a:bodyPr wrap="square" lIns="38100" tIns="25400" rIns="38100" bIns="25400" anchor="ctr">
            <a:spAutoFit/>
          </a:bodyPr>
          <a:lstStyle/>
          <a:p>
            <a:r>
              <a:rPr sz="1050" b="1" i="0">
                <a:solidFill>
                  <a:srgbClr val="1E2761"/>
                </a:solidFill>
                <a:latin typeface="Calibri"/>
              </a:rPr>
              <a:t>round-robin</a:t>
            </a:r>
          </a:p>
        </p:txBody>
      </p:sp>
      <p:sp>
        <p:nvSpPr>
          <p:cNvPr id="14" name="TextBox 13"/>
          <p:cNvSpPr txBox="1"/>
          <p:nvPr/>
        </p:nvSpPr>
        <p:spPr>
          <a:xfrm>
            <a:off x="1508760"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99.7</a:t>
            </a:r>
          </a:p>
        </p:txBody>
      </p:sp>
      <p:sp>
        <p:nvSpPr>
          <p:cNvPr id="15" name="TextBox 14"/>
          <p:cNvSpPr txBox="1"/>
          <p:nvPr/>
        </p:nvSpPr>
        <p:spPr>
          <a:xfrm>
            <a:off x="2304288"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21.6</a:t>
            </a:r>
          </a:p>
        </p:txBody>
      </p:sp>
      <p:sp>
        <p:nvSpPr>
          <p:cNvPr id="16" name="TextBox 15"/>
          <p:cNvSpPr txBox="1"/>
          <p:nvPr/>
        </p:nvSpPr>
        <p:spPr>
          <a:xfrm>
            <a:off x="3154680" y="2523744"/>
            <a:ext cx="749808" cy="292608"/>
          </a:xfrm>
          <a:prstGeom prst="rect">
            <a:avLst/>
          </a:prstGeom>
          <a:noFill/>
        </p:spPr>
        <p:txBody>
          <a:bodyPr wrap="square" lIns="38100" tIns="25400" rIns="38100" bIns="25400" anchor="ctr">
            <a:spAutoFit/>
          </a:bodyPr>
          <a:lstStyle/>
          <a:p>
            <a:pPr algn="r"/>
            <a:r>
              <a:rPr sz="1100" b="1" i="0">
                <a:solidFill>
                  <a:srgbClr val="2E9E8F"/>
                </a:solidFill>
                <a:latin typeface="Calibri"/>
              </a:rPr>
              <a:t>121.3</a:t>
            </a:r>
          </a:p>
        </p:txBody>
      </p:sp>
      <p:sp>
        <p:nvSpPr>
          <p:cNvPr id="17" name="TextBox 16"/>
          <p:cNvSpPr txBox="1"/>
          <p:nvPr/>
        </p:nvSpPr>
        <p:spPr>
          <a:xfrm>
            <a:off x="640080" y="2843784"/>
            <a:ext cx="914400" cy="292608"/>
          </a:xfrm>
          <a:prstGeom prst="rect">
            <a:avLst/>
          </a:prstGeom>
          <a:noFill/>
        </p:spPr>
        <p:txBody>
          <a:bodyPr wrap="square" lIns="38100" tIns="25400" rIns="38100" bIns="25400" anchor="ctr">
            <a:spAutoFit/>
          </a:bodyPr>
          <a:lstStyle/>
          <a:p>
            <a:r>
              <a:rPr sz="1050" b="0" i="0">
                <a:solidFill>
                  <a:srgbClr val="1F2A44"/>
                </a:solidFill>
                <a:latin typeface="Calibri"/>
              </a:rPr>
              <a:t>cost-fn</a:t>
            </a:r>
          </a:p>
        </p:txBody>
      </p:sp>
      <p:sp>
        <p:nvSpPr>
          <p:cNvPr id="18" name="TextBox 17"/>
          <p:cNvSpPr txBox="1"/>
          <p:nvPr/>
        </p:nvSpPr>
        <p:spPr>
          <a:xfrm>
            <a:off x="1508760"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207.2</a:t>
            </a:r>
          </a:p>
        </p:txBody>
      </p:sp>
      <p:sp>
        <p:nvSpPr>
          <p:cNvPr id="19" name="TextBox 18"/>
          <p:cNvSpPr txBox="1"/>
          <p:nvPr/>
        </p:nvSpPr>
        <p:spPr>
          <a:xfrm>
            <a:off x="2304288"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21.8</a:t>
            </a:r>
          </a:p>
        </p:txBody>
      </p:sp>
      <p:sp>
        <p:nvSpPr>
          <p:cNvPr id="20" name="TextBox 19"/>
          <p:cNvSpPr txBox="1"/>
          <p:nvPr/>
        </p:nvSpPr>
        <p:spPr>
          <a:xfrm>
            <a:off x="3154680" y="2843784"/>
            <a:ext cx="749808" cy="292608"/>
          </a:xfrm>
          <a:prstGeom prst="rect">
            <a:avLst/>
          </a:prstGeom>
          <a:noFill/>
        </p:spPr>
        <p:txBody>
          <a:bodyPr wrap="square" lIns="38100" tIns="25400" rIns="38100" bIns="25400" anchor="ctr">
            <a:spAutoFit/>
          </a:bodyPr>
          <a:lstStyle/>
          <a:p>
            <a:pPr algn="r"/>
            <a:r>
              <a:rPr sz="1100" b="0" i="0">
                <a:solidFill>
                  <a:srgbClr val="1F2A44"/>
                </a:solidFill>
                <a:latin typeface="Calibri"/>
              </a:rPr>
              <a:t>228.9</a:t>
            </a:r>
          </a:p>
        </p:txBody>
      </p:sp>
      <p:sp>
        <p:nvSpPr>
          <p:cNvPr id="21" name="TextBox 20"/>
          <p:cNvSpPr txBox="1"/>
          <p:nvPr/>
        </p:nvSpPr>
        <p:spPr>
          <a:xfrm>
            <a:off x="1481328"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ρ</a:t>
            </a:r>
          </a:p>
        </p:txBody>
      </p:sp>
      <p:sp>
        <p:nvSpPr>
          <p:cNvPr id="22" name="TextBox 21"/>
          <p:cNvSpPr txBox="1"/>
          <p:nvPr/>
        </p:nvSpPr>
        <p:spPr>
          <a:xfrm>
            <a:off x="2130552"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thru</a:t>
            </a:r>
          </a:p>
        </p:txBody>
      </p:sp>
      <p:sp>
        <p:nvSpPr>
          <p:cNvPr id="23" name="TextBox 22"/>
          <p:cNvSpPr txBox="1"/>
          <p:nvPr/>
        </p:nvSpPr>
        <p:spPr>
          <a:xfrm>
            <a:off x="2779776"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d/pax</a:t>
            </a:r>
          </a:p>
        </p:txBody>
      </p:sp>
      <p:sp>
        <p:nvSpPr>
          <p:cNvPr id="24" name="TextBox 23"/>
          <p:cNvSpPr txBox="1"/>
          <p:nvPr/>
        </p:nvSpPr>
        <p:spPr>
          <a:xfrm>
            <a:off x="3429000"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p/stop</a:t>
            </a:r>
          </a:p>
        </p:txBody>
      </p:sp>
      <p:sp>
        <p:nvSpPr>
          <p:cNvPr id="25" name="Rounded Rectangle 24"/>
          <p:cNvSpPr/>
          <p:nvPr/>
        </p:nvSpPr>
        <p:spPr>
          <a:xfrm>
            <a:off x="566928" y="3447288"/>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40080" y="3465576"/>
            <a:ext cx="868680" cy="292608"/>
          </a:xfrm>
          <a:prstGeom prst="rect">
            <a:avLst/>
          </a:prstGeom>
          <a:noFill/>
        </p:spPr>
        <p:txBody>
          <a:bodyPr wrap="square" lIns="38100" tIns="25400" rIns="38100" bIns="25400" anchor="ctr">
            <a:spAutoFit/>
          </a:bodyPr>
          <a:lstStyle/>
          <a:p>
            <a:r>
              <a:rPr sz="1000" b="1" i="0">
                <a:solidFill>
                  <a:srgbClr val="1E2761"/>
                </a:solidFill>
                <a:latin typeface="Calibri"/>
              </a:rPr>
              <a:t>round-robin</a:t>
            </a:r>
          </a:p>
        </p:txBody>
      </p:sp>
      <p:sp>
        <p:nvSpPr>
          <p:cNvPr id="27" name="TextBox 26"/>
          <p:cNvSpPr txBox="1"/>
          <p:nvPr/>
        </p:nvSpPr>
        <p:spPr>
          <a:xfrm>
            <a:off x="1481328"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0.97</a:t>
            </a:r>
          </a:p>
        </p:txBody>
      </p:sp>
      <p:sp>
        <p:nvSpPr>
          <p:cNvPr id="28" name="TextBox 27"/>
          <p:cNvSpPr txBox="1"/>
          <p:nvPr/>
        </p:nvSpPr>
        <p:spPr>
          <a:xfrm>
            <a:off x="2130552"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2.35</a:t>
            </a:r>
          </a:p>
        </p:txBody>
      </p:sp>
      <p:sp>
        <p:nvSpPr>
          <p:cNvPr id="29" name="TextBox 28"/>
          <p:cNvSpPr txBox="1"/>
          <p:nvPr/>
        </p:nvSpPr>
        <p:spPr>
          <a:xfrm>
            <a:off x="2779776"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4.67</a:t>
            </a:r>
          </a:p>
        </p:txBody>
      </p:sp>
      <p:sp>
        <p:nvSpPr>
          <p:cNvPr id="30" name="TextBox 29"/>
          <p:cNvSpPr txBox="1"/>
          <p:nvPr/>
        </p:nvSpPr>
        <p:spPr>
          <a:xfrm>
            <a:off x="3429000"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1.05</a:t>
            </a:r>
          </a:p>
        </p:txBody>
      </p:sp>
      <p:sp>
        <p:nvSpPr>
          <p:cNvPr id="31" name="TextBox 30"/>
          <p:cNvSpPr txBox="1"/>
          <p:nvPr/>
        </p:nvSpPr>
        <p:spPr>
          <a:xfrm>
            <a:off x="640080" y="3785615"/>
            <a:ext cx="868680" cy="292608"/>
          </a:xfrm>
          <a:prstGeom prst="rect">
            <a:avLst/>
          </a:prstGeom>
          <a:noFill/>
        </p:spPr>
        <p:txBody>
          <a:bodyPr wrap="square" lIns="38100" tIns="25400" rIns="38100" bIns="25400" anchor="ctr">
            <a:spAutoFit/>
          </a:bodyPr>
          <a:lstStyle/>
          <a:p>
            <a:r>
              <a:rPr sz="1000" b="0" i="0">
                <a:solidFill>
                  <a:srgbClr val="1F2A44"/>
                </a:solidFill>
                <a:latin typeface="Calibri"/>
              </a:rPr>
              <a:t>cost-fn</a:t>
            </a:r>
          </a:p>
        </p:txBody>
      </p:sp>
      <p:sp>
        <p:nvSpPr>
          <p:cNvPr id="32" name="TextBox 31"/>
          <p:cNvSpPr txBox="1"/>
          <p:nvPr/>
        </p:nvSpPr>
        <p:spPr>
          <a:xfrm>
            <a:off x="1481328"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0.76</a:t>
            </a:r>
          </a:p>
        </p:txBody>
      </p:sp>
      <p:sp>
        <p:nvSpPr>
          <p:cNvPr id="33" name="TextBox 32"/>
          <p:cNvSpPr txBox="1"/>
          <p:nvPr/>
        </p:nvSpPr>
        <p:spPr>
          <a:xfrm>
            <a:off x="2130552"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1.88</a:t>
            </a:r>
          </a:p>
        </p:txBody>
      </p:sp>
      <p:sp>
        <p:nvSpPr>
          <p:cNvPr id="34" name="TextBox 33"/>
          <p:cNvSpPr txBox="1"/>
          <p:nvPr/>
        </p:nvSpPr>
        <p:spPr>
          <a:xfrm>
            <a:off x="2779776"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4.53</a:t>
            </a:r>
          </a:p>
        </p:txBody>
      </p:sp>
      <p:sp>
        <p:nvSpPr>
          <p:cNvPr id="35" name="TextBox 34"/>
          <p:cNvSpPr txBox="1"/>
          <p:nvPr/>
        </p:nvSpPr>
        <p:spPr>
          <a:xfrm>
            <a:off x="3429000"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1.05</a:t>
            </a:r>
          </a:p>
        </p:txBody>
      </p:sp>
      <p:sp>
        <p:nvSpPr>
          <p:cNvPr id="36" name="Rounded Rectangle 35"/>
          <p:cNvSpPr/>
          <p:nvPr/>
        </p:nvSpPr>
        <p:spPr>
          <a:xfrm>
            <a:off x="594360" y="4224528"/>
            <a:ext cx="3291840" cy="292608"/>
          </a:xfrm>
          <a:prstGeom prst="roundRect">
            <a:avLst>
              <a:gd name="adj" fmla="val 10000"/>
            </a:avLst>
          </a:prstGeom>
          <a:solidFill>
            <a:srgbClr val="F4F1E8"/>
          </a:solidFill>
          <a:ln w="12700">
            <a:solidFill>
              <a:srgbClr val="E4D9B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594360" y="4224528"/>
            <a:ext cx="3291840" cy="292608"/>
          </a:xfrm>
          <a:prstGeom prst="rect">
            <a:avLst/>
          </a:prstGeom>
          <a:noFill/>
        </p:spPr>
        <p:txBody>
          <a:bodyPr wrap="square" lIns="38100" tIns="25400" rIns="38100" bIns="25400" anchor="ctr">
            <a:spAutoFit/>
          </a:bodyPr>
          <a:lstStyle/>
          <a:p>
            <a:pPr algn="ctr"/>
            <a:r>
              <a:rPr sz="1050" b="1" i="0">
                <a:solidFill>
                  <a:srgbClr val="9A6A12"/>
                </a:solidFill>
                <a:latin typeface="Calibri"/>
              </a:rPr>
              <a:t>Gap 107.6  ·  100% wait</a:t>
            </a:r>
          </a:p>
        </p:txBody>
      </p:sp>
      <p:sp>
        <p:nvSpPr>
          <p:cNvPr id="38" name="Rounded Rectangle 37"/>
          <p:cNvSpPr/>
          <p:nvPr/>
        </p:nvSpPr>
        <p:spPr>
          <a:xfrm>
            <a:off x="4279392" y="1700784"/>
            <a:ext cx="3566160" cy="292608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ounded Rectangle 38"/>
          <p:cNvSpPr/>
          <p:nvPr/>
        </p:nvSpPr>
        <p:spPr>
          <a:xfrm>
            <a:off x="4443983" y="1828800"/>
            <a:ext cx="1417320" cy="384048"/>
          </a:xfrm>
          <a:prstGeom prst="roundRect">
            <a:avLst>
              <a:gd name="adj" fmla="val 10000"/>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4443983" y="1828800"/>
            <a:ext cx="1417320" cy="384048"/>
          </a:xfrm>
          <a:prstGeom prst="rect">
            <a:avLst/>
          </a:prstGeom>
          <a:noFill/>
        </p:spPr>
        <p:txBody>
          <a:bodyPr wrap="square" lIns="38100" tIns="25400" rIns="38100" bIns="25400" anchor="ctr">
            <a:spAutoFit/>
          </a:bodyPr>
          <a:lstStyle/>
          <a:p>
            <a:pPr algn="ctr"/>
            <a:r>
              <a:rPr sz="1100" b="1" i="0">
                <a:solidFill>
                  <a:srgbClr val="FFFFFF"/>
                </a:solidFill>
                <a:latin typeface="Courier New"/>
              </a:rPr>
              <a:t>down_peak</a:t>
            </a:r>
          </a:p>
        </p:txBody>
      </p:sp>
      <p:sp>
        <p:nvSpPr>
          <p:cNvPr id="41" name="TextBox 40"/>
          <p:cNvSpPr txBox="1"/>
          <p:nvPr/>
        </p:nvSpPr>
        <p:spPr>
          <a:xfrm>
            <a:off x="5961888" y="1828800"/>
            <a:ext cx="1792224" cy="384048"/>
          </a:xfrm>
          <a:prstGeom prst="rect">
            <a:avLst/>
          </a:prstGeom>
          <a:noFill/>
        </p:spPr>
        <p:txBody>
          <a:bodyPr wrap="square" lIns="38100" tIns="25400" rIns="38100" bIns="25400" anchor="ctr">
            <a:spAutoFit/>
          </a:bodyPr>
          <a:lstStyle/>
          <a:p>
            <a:r>
              <a:rPr sz="1000" b="0" i="0">
                <a:solidFill>
                  <a:srgbClr val="2E9E8F"/>
                </a:solidFill>
                <a:latin typeface="Calibri"/>
              </a:rPr>
              <a:t>▶ </a:t>
            </a:r>
            <a:r>
              <a:rPr sz="1050" b="1" i="0">
                <a:solidFill>
                  <a:srgbClr val="1E2761"/>
                </a:solidFill>
                <a:latin typeface="Calibri"/>
              </a:rPr>
              <a:t>cost-fn wins</a:t>
            </a:r>
          </a:p>
        </p:txBody>
      </p:sp>
      <p:sp>
        <p:nvSpPr>
          <p:cNvPr id="42" name="TextBox 41"/>
          <p:cNvSpPr txBox="1"/>
          <p:nvPr/>
        </p:nvSpPr>
        <p:spPr>
          <a:xfrm>
            <a:off x="5330952"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wait</a:t>
            </a:r>
          </a:p>
        </p:txBody>
      </p:sp>
      <p:sp>
        <p:nvSpPr>
          <p:cNvPr id="43" name="TextBox 42"/>
          <p:cNvSpPr txBox="1"/>
          <p:nvPr/>
        </p:nvSpPr>
        <p:spPr>
          <a:xfrm>
            <a:off x="6126479"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travel</a:t>
            </a:r>
          </a:p>
        </p:txBody>
      </p:sp>
      <p:sp>
        <p:nvSpPr>
          <p:cNvPr id="44" name="TextBox 43"/>
          <p:cNvSpPr txBox="1"/>
          <p:nvPr/>
        </p:nvSpPr>
        <p:spPr>
          <a:xfrm>
            <a:off x="6976872"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total</a:t>
            </a:r>
          </a:p>
        </p:txBody>
      </p:sp>
      <p:sp>
        <p:nvSpPr>
          <p:cNvPr id="45" name="TextBox 44"/>
          <p:cNvSpPr txBox="1"/>
          <p:nvPr/>
        </p:nvSpPr>
        <p:spPr>
          <a:xfrm>
            <a:off x="4462272" y="2523744"/>
            <a:ext cx="914400" cy="292608"/>
          </a:xfrm>
          <a:prstGeom prst="rect">
            <a:avLst/>
          </a:prstGeom>
          <a:noFill/>
        </p:spPr>
        <p:txBody>
          <a:bodyPr wrap="square" lIns="38100" tIns="25400" rIns="38100" bIns="25400" anchor="ctr">
            <a:spAutoFit/>
          </a:bodyPr>
          <a:lstStyle/>
          <a:p>
            <a:r>
              <a:rPr sz="1050" b="0" i="0">
                <a:solidFill>
                  <a:srgbClr val="1F2A44"/>
                </a:solidFill>
                <a:latin typeface="Calibri"/>
              </a:rPr>
              <a:t>round-robin</a:t>
            </a:r>
          </a:p>
        </p:txBody>
      </p:sp>
      <p:sp>
        <p:nvSpPr>
          <p:cNvPr id="46" name="TextBox 45"/>
          <p:cNvSpPr txBox="1"/>
          <p:nvPr/>
        </p:nvSpPr>
        <p:spPr>
          <a:xfrm>
            <a:off x="5330952"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94.6</a:t>
            </a:r>
          </a:p>
        </p:txBody>
      </p:sp>
      <p:sp>
        <p:nvSpPr>
          <p:cNvPr id="47" name="TextBox 46"/>
          <p:cNvSpPr txBox="1"/>
          <p:nvPr/>
        </p:nvSpPr>
        <p:spPr>
          <a:xfrm>
            <a:off x="6126479"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41.2</a:t>
            </a:r>
          </a:p>
        </p:txBody>
      </p:sp>
      <p:sp>
        <p:nvSpPr>
          <p:cNvPr id="48" name="TextBox 47"/>
          <p:cNvSpPr txBox="1"/>
          <p:nvPr/>
        </p:nvSpPr>
        <p:spPr>
          <a:xfrm>
            <a:off x="6976872" y="2523744"/>
            <a:ext cx="749808" cy="292608"/>
          </a:xfrm>
          <a:prstGeom prst="rect">
            <a:avLst/>
          </a:prstGeom>
          <a:noFill/>
        </p:spPr>
        <p:txBody>
          <a:bodyPr wrap="square" lIns="38100" tIns="25400" rIns="38100" bIns="25400" anchor="ctr">
            <a:spAutoFit/>
          </a:bodyPr>
          <a:lstStyle/>
          <a:p>
            <a:pPr algn="r"/>
            <a:r>
              <a:rPr sz="1100" b="0" i="0">
                <a:solidFill>
                  <a:srgbClr val="1F2A44"/>
                </a:solidFill>
                <a:latin typeface="Calibri"/>
              </a:rPr>
              <a:t>135.9</a:t>
            </a:r>
          </a:p>
        </p:txBody>
      </p:sp>
      <p:sp>
        <p:nvSpPr>
          <p:cNvPr id="49" name="Rounded Rectangle 48"/>
          <p:cNvSpPr/>
          <p:nvPr/>
        </p:nvSpPr>
        <p:spPr>
          <a:xfrm>
            <a:off x="4389120" y="2825496"/>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4462272" y="2843784"/>
            <a:ext cx="914400" cy="292608"/>
          </a:xfrm>
          <a:prstGeom prst="rect">
            <a:avLst/>
          </a:prstGeom>
          <a:noFill/>
        </p:spPr>
        <p:txBody>
          <a:bodyPr wrap="square" lIns="38100" tIns="25400" rIns="38100" bIns="25400" anchor="ctr">
            <a:spAutoFit/>
          </a:bodyPr>
          <a:lstStyle/>
          <a:p>
            <a:r>
              <a:rPr sz="1050" b="1" i="0">
                <a:solidFill>
                  <a:srgbClr val="1E2761"/>
                </a:solidFill>
                <a:latin typeface="Calibri"/>
              </a:rPr>
              <a:t>cost-fn</a:t>
            </a:r>
          </a:p>
        </p:txBody>
      </p:sp>
      <p:sp>
        <p:nvSpPr>
          <p:cNvPr id="51" name="TextBox 50"/>
          <p:cNvSpPr txBox="1"/>
          <p:nvPr/>
        </p:nvSpPr>
        <p:spPr>
          <a:xfrm>
            <a:off x="5330952"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66.4</a:t>
            </a:r>
          </a:p>
        </p:txBody>
      </p:sp>
      <p:sp>
        <p:nvSpPr>
          <p:cNvPr id="52" name="TextBox 51"/>
          <p:cNvSpPr txBox="1"/>
          <p:nvPr/>
        </p:nvSpPr>
        <p:spPr>
          <a:xfrm>
            <a:off x="6126479"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33.8</a:t>
            </a:r>
          </a:p>
        </p:txBody>
      </p:sp>
      <p:sp>
        <p:nvSpPr>
          <p:cNvPr id="53" name="TextBox 52"/>
          <p:cNvSpPr txBox="1"/>
          <p:nvPr/>
        </p:nvSpPr>
        <p:spPr>
          <a:xfrm>
            <a:off x="6976872" y="2843784"/>
            <a:ext cx="749808" cy="292608"/>
          </a:xfrm>
          <a:prstGeom prst="rect">
            <a:avLst/>
          </a:prstGeom>
          <a:noFill/>
        </p:spPr>
        <p:txBody>
          <a:bodyPr wrap="square" lIns="38100" tIns="25400" rIns="38100" bIns="25400" anchor="ctr">
            <a:spAutoFit/>
          </a:bodyPr>
          <a:lstStyle/>
          <a:p>
            <a:pPr algn="r"/>
            <a:r>
              <a:rPr sz="1100" b="1" i="0">
                <a:solidFill>
                  <a:srgbClr val="2E9E8F"/>
                </a:solidFill>
                <a:latin typeface="Calibri"/>
              </a:rPr>
              <a:t>100.2</a:t>
            </a:r>
          </a:p>
        </p:txBody>
      </p:sp>
      <p:sp>
        <p:nvSpPr>
          <p:cNvPr id="54" name="TextBox 53"/>
          <p:cNvSpPr txBox="1"/>
          <p:nvPr/>
        </p:nvSpPr>
        <p:spPr>
          <a:xfrm>
            <a:off x="5303520"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ρ</a:t>
            </a:r>
          </a:p>
        </p:txBody>
      </p:sp>
      <p:sp>
        <p:nvSpPr>
          <p:cNvPr id="55" name="TextBox 54"/>
          <p:cNvSpPr txBox="1"/>
          <p:nvPr/>
        </p:nvSpPr>
        <p:spPr>
          <a:xfrm>
            <a:off x="5952744"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thru</a:t>
            </a:r>
          </a:p>
        </p:txBody>
      </p:sp>
      <p:sp>
        <p:nvSpPr>
          <p:cNvPr id="56" name="TextBox 55"/>
          <p:cNvSpPr txBox="1"/>
          <p:nvPr/>
        </p:nvSpPr>
        <p:spPr>
          <a:xfrm>
            <a:off x="6601968"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d/pax</a:t>
            </a:r>
          </a:p>
        </p:txBody>
      </p:sp>
      <p:sp>
        <p:nvSpPr>
          <p:cNvPr id="57" name="TextBox 56"/>
          <p:cNvSpPr txBox="1"/>
          <p:nvPr/>
        </p:nvSpPr>
        <p:spPr>
          <a:xfrm>
            <a:off x="7251192"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p/stop</a:t>
            </a:r>
          </a:p>
        </p:txBody>
      </p:sp>
      <p:sp>
        <p:nvSpPr>
          <p:cNvPr id="58" name="TextBox 57"/>
          <p:cNvSpPr txBox="1"/>
          <p:nvPr/>
        </p:nvSpPr>
        <p:spPr>
          <a:xfrm>
            <a:off x="4462272" y="3465576"/>
            <a:ext cx="868680" cy="292608"/>
          </a:xfrm>
          <a:prstGeom prst="rect">
            <a:avLst/>
          </a:prstGeom>
          <a:noFill/>
        </p:spPr>
        <p:txBody>
          <a:bodyPr wrap="square" lIns="38100" tIns="25400" rIns="38100" bIns="25400" anchor="ctr">
            <a:spAutoFit/>
          </a:bodyPr>
          <a:lstStyle/>
          <a:p>
            <a:r>
              <a:rPr sz="1000" b="0" i="0">
                <a:solidFill>
                  <a:srgbClr val="1F2A44"/>
                </a:solidFill>
                <a:latin typeface="Calibri"/>
              </a:rPr>
              <a:t>round-robin</a:t>
            </a:r>
          </a:p>
        </p:txBody>
      </p:sp>
      <p:sp>
        <p:nvSpPr>
          <p:cNvPr id="59" name="TextBox 58"/>
          <p:cNvSpPr txBox="1"/>
          <p:nvPr/>
        </p:nvSpPr>
        <p:spPr>
          <a:xfrm>
            <a:off x="5303520"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0.97</a:t>
            </a:r>
          </a:p>
        </p:txBody>
      </p:sp>
      <p:sp>
        <p:nvSpPr>
          <p:cNvPr id="60" name="TextBox 59"/>
          <p:cNvSpPr txBox="1"/>
          <p:nvPr/>
        </p:nvSpPr>
        <p:spPr>
          <a:xfrm>
            <a:off x="5952744"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2.37</a:t>
            </a:r>
          </a:p>
        </p:txBody>
      </p:sp>
      <p:sp>
        <p:nvSpPr>
          <p:cNvPr id="61" name="TextBox 60"/>
          <p:cNvSpPr txBox="1"/>
          <p:nvPr/>
        </p:nvSpPr>
        <p:spPr>
          <a:xfrm>
            <a:off x="6601968"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4.88</a:t>
            </a:r>
          </a:p>
        </p:txBody>
      </p:sp>
      <p:sp>
        <p:nvSpPr>
          <p:cNvPr id="62" name="TextBox 61"/>
          <p:cNvSpPr txBox="1"/>
          <p:nvPr/>
        </p:nvSpPr>
        <p:spPr>
          <a:xfrm>
            <a:off x="7251192"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1.19</a:t>
            </a:r>
          </a:p>
        </p:txBody>
      </p:sp>
      <p:sp>
        <p:nvSpPr>
          <p:cNvPr id="63" name="Rounded Rectangle 62"/>
          <p:cNvSpPr/>
          <p:nvPr/>
        </p:nvSpPr>
        <p:spPr>
          <a:xfrm>
            <a:off x="4389120" y="3767328"/>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4462272" y="3785615"/>
            <a:ext cx="868680" cy="292608"/>
          </a:xfrm>
          <a:prstGeom prst="rect">
            <a:avLst/>
          </a:prstGeom>
          <a:noFill/>
        </p:spPr>
        <p:txBody>
          <a:bodyPr wrap="square" lIns="38100" tIns="25400" rIns="38100" bIns="25400" anchor="ctr">
            <a:spAutoFit/>
          </a:bodyPr>
          <a:lstStyle/>
          <a:p>
            <a:r>
              <a:rPr sz="1000" b="1" i="0">
                <a:solidFill>
                  <a:srgbClr val="1E2761"/>
                </a:solidFill>
                <a:latin typeface="Calibri"/>
              </a:rPr>
              <a:t>cost-fn</a:t>
            </a:r>
          </a:p>
        </p:txBody>
      </p:sp>
      <p:sp>
        <p:nvSpPr>
          <p:cNvPr id="65" name="TextBox 64"/>
          <p:cNvSpPr txBox="1"/>
          <p:nvPr/>
        </p:nvSpPr>
        <p:spPr>
          <a:xfrm>
            <a:off x="5303520"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0.88</a:t>
            </a:r>
          </a:p>
        </p:txBody>
      </p:sp>
      <p:sp>
        <p:nvSpPr>
          <p:cNvPr id="66" name="TextBox 65"/>
          <p:cNvSpPr txBox="1"/>
          <p:nvPr/>
        </p:nvSpPr>
        <p:spPr>
          <a:xfrm>
            <a:off x="5952744"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2.49</a:t>
            </a:r>
          </a:p>
        </p:txBody>
      </p:sp>
      <p:sp>
        <p:nvSpPr>
          <p:cNvPr id="67" name="TextBox 66"/>
          <p:cNvSpPr txBox="1"/>
          <p:nvPr/>
        </p:nvSpPr>
        <p:spPr>
          <a:xfrm>
            <a:off x="6601968"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4.15</a:t>
            </a:r>
          </a:p>
        </p:txBody>
      </p:sp>
      <p:sp>
        <p:nvSpPr>
          <p:cNvPr id="68" name="TextBox 67"/>
          <p:cNvSpPr txBox="1"/>
          <p:nvPr/>
        </p:nvSpPr>
        <p:spPr>
          <a:xfrm>
            <a:off x="7251192"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1.28</a:t>
            </a:r>
          </a:p>
        </p:txBody>
      </p:sp>
      <p:sp>
        <p:nvSpPr>
          <p:cNvPr id="69" name="Rounded Rectangle 68"/>
          <p:cNvSpPr/>
          <p:nvPr/>
        </p:nvSpPr>
        <p:spPr>
          <a:xfrm>
            <a:off x="4416552" y="4224528"/>
            <a:ext cx="3291840" cy="292608"/>
          </a:xfrm>
          <a:prstGeom prst="roundRect">
            <a:avLst>
              <a:gd name="adj" fmla="val 10000"/>
            </a:avLst>
          </a:prstGeom>
          <a:solidFill>
            <a:srgbClr val="F4F1E8"/>
          </a:solidFill>
          <a:ln w="12700">
            <a:solidFill>
              <a:srgbClr val="E4D9B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TextBox 69"/>
          <p:cNvSpPr txBox="1"/>
          <p:nvPr/>
        </p:nvSpPr>
        <p:spPr>
          <a:xfrm>
            <a:off x="4416552" y="4224528"/>
            <a:ext cx="3291840" cy="292608"/>
          </a:xfrm>
          <a:prstGeom prst="rect">
            <a:avLst/>
          </a:prstGeom>
          <a:noFill/>
        </p:spPr>
        <p:txBody>
          <a:bodyPr wrap="square" lIns="38100" tIns="25400" rIns="38100" bIns="25400" anchor="ctr">
            <a:spAutoFit/>
          </a:bodyPr>
          <a:lstStyle/>
          <a:p>
            <a:pPr algn="ctr"/>
            <a:r>
              <a:rPr sz="1050" b="1" i="0">
                <a:solidFill>
                  <a:srgbClr val="9A6A12"/>
                </a:solidFill>
                <a:latin typeface="Calibri"/>
              </a:rPr>
              <a:t>Gap 35.7  ·  79% wait</a:t>
            </a:r>
          </a:p>
        </p:txBody>
      </p:sp>
      <p:sp>
        <p:nvSpPr>
          <p:cNvPr id="71" name="Rounded Rectangle 70"/>
          <p:cNvSpPr/>
          <p:nvPr/>
        </p:nvSpPr>
        <p:spPr>
          <a:xfrm>
            <a:off x="8101583" y="1700784"/>
            <a:ext cx="3566160" cy="2926080"/>
          </a:xfrm>
          <a:prstGeom prst="roundRect">
            <a:avLst>
              <a:gd name="adj" fmla="val 5000"/>
            </a:avLst>
          </a:prstGeom>
          <a:solidFill>
            <a:srgbClr val="F3F5FB"/>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Rounded Rectangle 71"/>
          <p:cNvSpPr/>
          <p:nvPr/>
        </p:nvSpPr>
        <p:spPr>
          <a:xfrm>
            <a:off x="8266175" y="1828800"/>
            <a:ext cx="1417320" cy="384048"/>
          </a:xfrm>
          <a:prstGeom prst="roundRect">
            <a:avLst>
              <a:gd name="adj" fmla="val 10000"/>
            </a:avLst>
          </a:prstGeom>
          <a:solidFill>
            <a:srgbClr val="2E9E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3" name="TextBox 72"/>
          <p:cNvSpPr txBox="1"/>
          <p:nvPr/>
        </p:nvSpPr>
        <p:spPr>
          <a:xfrm>
            <a:off x="8266175" y="1828800"/>
            <a:ext cx="1417320" cy="384048"/>
          </a:xfrm>
          <a:prstGeom prst="rect">
            <a:avLst/>
          </a:prstGeom>
          <a:noFill/>
        </p:spPr>
        <p:txBody>
          <a:bodyPr wrap="square" lIns="38100" tIns="25400" rIns="38100" bIns="25400" anchor="ctr">
            <a:spAutoFit/>
          </a:bodyPr>
          <a:lstStyle/>
          <a:p>
            <a:pPr algn="ctr"/>
            <a:r>
              <a:rPr sz="1100" b="1" i="0">
                <a:solidFill>
                  <a:srgbClr val="FFFFFF"/>
                </a:solidFill>
                <a:latin typeface="Courier New"/>
              </a:rPr>
              <a:t>uniform</a:t>
            </a:r>
          </a:p>
        </p:txBody>
      </p:sp>
      <p:sp>
        <p:nvSpPr>
          <p:cNvPr id="74" name="TextBox 73"/>
          <p:cNvSpPr txBox="1"/>
          <p:nvPr/>
        </p:nvSpPr>
        <p:spPr>
          <a:xfrm>
            <a:off x="9784080" y="1828800"/>
            <a:ext cx="1792224" cy="384048"/>
          </a:xfrm>
          <a:prstGeom prst="rect">
            <a:avLst/>
          </a:prstGeom>
          <a:noFill/>
        </p:spPr>
        <p:txBody>
          <a:bodyPr wrap="square" lIns="38100" tIns="25400" rIns="38100" bIns="25400" anchor="ctr">
            <a:spAutoFit/>
          </a:bodyPr>
          <a:lstStyle/>
          <a:p>
            <a:r>
              <a:rPr sz="1000" b="0" i="0">
                <a:solidFill>
                  <a:srgbClr val="2E9E8F"/>
                </a:solidFill>
                <a:latin typeface="Calibri"/>
              </a:rPr>
              <a:t>▶ </a:t>
            </a:r>
            <a:r>
              <a:rPr sz="1050" b="1" i="0">
                <a:solidFill>
                  <a:srgbClr val="1E2761"/>
                </a:solidFill>
                <a:latin typeface="Calibri"/>
              </a:rPr>
              <a:t>cost-fn wins</a:t>
            </a:r>
          </a:p>
        </p:txBody>
      </p:sp>
      <p:sp>
        <p:nvSpPr>
          <p:cNvPr id="75" name="TextBox 74"/>
          <p:cNvSpPr txBox="1"/>
          <p:nvPr/>
        </p:nvSpPr>
        <p:spPr>
          <a:xfrm>
            <a:off x="9153144"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wait</a:t>
            </a:r>
          </a:p>
        </p:txBody>
      </p:sp>
      <p:sp>
        <p:nvSpPr>
          <p:cNvPr id="76" name="TextBox 75"/>
          <p:cNvSpPr txBox="1"/>
          <p:nvPr/>
        </p:nvSpPr>
        <p:spPr>
          <a:xfrm>
            <a:off x="9948672"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travel</a:t>
            </a:r>
          </a:p>
        </p:txBody>
      </p:sp>
      <p:sp>
        <p:nvSpPr>
          <p:cNvPr id="77" name="TextBox 76"/>
          <p:cNvSpPr txBox="1"/>
          <p:nvPr/>
        </p:nvSpPr>
        <p:spPr>
          <a:xfrm>
            <a:off x="10799063" y="2286000"/>
            <a:ext cx="749808" cy="219456"/>
          </a:xfrm>
          <a:prstGeom prst="rect">
            <a:avLst/>
          </a:prstGeom>
          <a:noFill/>
        </p:spPr>
        <p:txBody>
          <a:bodyPr wrap="square" lIns="38100" tIns="25400" rIns="38100" bIns="25400">
            <a:spAutoFit/>
          </a:bodyPr>
          <a:lstStyle/>
          <a:p>
            <a:pPr algn="r"/>
            <a:r>
              <a:rPr sz="900" b="1" i="0">
                <a:solidFill>
                  <a:srgbClr val="6B7280"/>
                </a:solidFill>
                <a:latin typeface="Calibri"/>
              </a:rPr>
              <a:t>total</a:t>
            </a:r>
          </a:p>
        </p:txBody>
      </p:sp>
      <p:sp>
        <p:nvSpPr>
          <p:cNvPr id="78" name="TextBox 77"/>
          <p:cNvSpPr txBox="1"/>
          <p:nvPr/>
        </p:nvSpPr>
        <p:spPr>
          <a:xfrm>
            <a:off x="8284463" y="2523744"/>
            <a:ext cx="914400" cy="292608"/>
          </a:xfrm>
          <a:prstGeom prst="rect">
            <a:avLst/>
          </a:prstGeom>
          <a:noFill/>
        </p:spPr>
        <p:txBody>
          <a:bodyPr wrap="square" lIns="38100" tIns="25400" rIns="38100" bIns="25400" anchor="ctr">
            <a:spAutoFit/>
          </a:bodyPr>
          <a:lstStyle/>
          <a:p>
            <a:r>
              <a:rPr sz="1050" b="0" i="0">
                <a:solidFill>
                  <a:srgbClr val="1F2A44"/>
                </a:solidFill>
                <a:latin typeface="Calibri"/>
              </a:rPr>
              <a:t>round-robin</a:t>
            </a:r>
          </a:p>
        </p:txBody>
      </p:sp>
      <p:sp>
        <p:nvSpPr>
          <p:cNvPr id="79" name="TextBox 78"/>
          <p:cNvSpPr txBox="1"/>
          <p:nvPr/>
        </p:nvSpPr>
        <p:spPr>
          <a:xfrm>
            <a:off x="9153144"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30.1</a:t>
            </a:r>
          </a:p>
        </p:txBody>
      </p:sp>
      <p:sp>
        <p:nvSpPr>
          <p:cNvPr id="80" name="TextBox 79"/>
          <p:cNvSpPr txBox="1"/>
          <p:nvPr/>
        </p:nvSpPr>
        <p:spPr>
          <a:xfrm>
            <a:off x="9948672" y="252374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31.3</a:t>
            </a:r>
          </a:p>
        </p:txBody>
      </p:sp>
      <p:sp>
        <p:nvSpPr>
          <p:cNvPr id="81" name="TextBox 80"/>
          <p:cNvSpPr txBox="1"/>
          <p:nvPr/>
        </p:nvSpPr>
        <p:spPr>
          <a:xfrm>
            <a:off x="10799063" y="2523744"/>
            <a:ext cx="749808" cy="292608"/>
          </a:xfrm>
          <a:prstGeom prst="rect">
            <a:avLst/>
          </a:prstGeom>
          <a:noFill/>
        </p:spPr>
        <p:txBody>
          <a:bodyPr wrap="square" lIns="38100" tIns="25400" rIns="38100" bIns="25400" anchor="ctr">
            <a:spAutoFit/>
          </a:bodyPr>
          <a:lstStyle/>
          <a:p>
            <a:pPr algn="r"/>
            <a:r>
              <a:rPr sz="1100" b="0" i="0">
                <a:solidFill>
                  <a:srgbClr val="1F2A44"/>
                </a:solidFill>
                <a:latin typeface="Calibri"/>
              </a:rPr>
              <a:t>61.4</a:t>
            </a:r>
          </a:p>
        </p:txBody>
      </p:sp>
      <p:sp>
        <p:nvSpPr>
          <p:cNvPr id="82" name="Rounded Rectangle 81"/>
          <p:cNvSpPr/>
          <p:nvPr/>
        </p:nvSpPr>
        <p:spPr>
          <a:xfrm>
            <a:off x="8211311" y="2825496"/>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3" name="TextBox 82"/>
          <p:cNvSpPr txBox="1"/>
          <p:nvPr/>
        </p:nvSpPr>
        <p:spPr>
          <a:xfrm>
            <a:off x="8284463" y="2843784"/>
            <a:ext cx="914400" cy="292608"/>
          </a:xfrm>
          <a:prstGeom prst="rect">
            <a:avLst/>
          </a:prstGeom>
          <a:noFill/>
        </p:spPr>
        <p:txBody>
          <a:bodyPr wrap="square" lIns="38100" tIns="25400" rIns="38100" bIns="25400" anchor="ctr">
            <a:spAutoFit/>
          </a:bodyPr>
          <a:lstStyle/>
          <a:p>
            <a:r>
              <a:rPr sz="1050" b="1" i="0">
                <a:solidFill>
                  <a:srgbClr val="1E2761"/>
                </a:solidFill>
                <a:latin typeface="Calibri"/>
              </a:rPr>
              <a:t>cost-fn</a:t>
            </a:r>
          </a:p>
        </p:txBody>
      </p:sp>
      <p:sp>
        <p:nvSpPr>
          <p:cNvPr id="84" name="TextBox 83"/>
          <p:cNvSpPr txBox="1"/>
          <p:nvPr/>
        </p:nvSpPr>
        <p:spPr>
          <a:xfrm>
            <a:off x="9153144"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10.7</a:t>
            </a:r>
          </a:p>
        </p:txBody>
      </p:sp>
      <p:sp>
        <p:nvSpPr>
          <p:cNvPr id="85" name="TextBox 84"/>
          <p:cNvSpPr txBox="1"/>
          <p:nvPr/>
        </p:nvSpPr>
        <p:spPr>
          <a:xfrm>
            <a:off x="9948672" y="2843784"/>
            <a:ext cx="749808" cy="292608"/>
          </a:xfrm>
          <a:prstGeom prst="rect">
            <a:avLst/>
          </a:prstGeom>
          <a:noFill/>
        </p:spPr>
        <p:txBody>
          <a:bodyPr wrap="square" lIns="38100" tIns="25400" rIns="38100" bIns="25400" anchor="ctr">
            <a:spAutoFit/>
          </a:bodyPr>
          <a:lstStyle/>
          <a:p>
            <a:pPr algn="r"/>
            <a:r>
              <a:rPr sz="1050" b="0" i="0">
                <a:solidFill>
                  <a:srgbClr val="1F2A44"/>
                </a:solidFill>
                <a:latin typeface="Calibri"/>
              </a:rPr>
              <a:t>30.5</a:t>
            </a:r>
          </a:p>
        </p:txBody>
      </p:sp>
      <p:sp>
        <p:nvSpPr>
          <p:cNvPr id="86" name="TextBox 85"/>
          <p:cNvSpPr txBox="1"/>
          <p:nvPr/>
        </p:nvSpPr>
        <p:spPr>
          <a:xfrm>
            <a:off x="10799063" y="2843784"/>
            <a:ext cx="749808" cy="292608"/>
          </a:xfrm>
          <a:prstGeom prst="rect">
            <a:avLst/>
          </a:prstGeom>
          <a:noFill/>
        </p:spPr>
        <p:txBody>
          <a:bodyPr wrap="square" lIns="38100" tIns="25400" rIns="38100" bIns="25400" anchor="ctr">
            <a:spAutoFit/>
          </a:bodyPr>
          <a:lstStyle/>
          <a:p>
            <a:pPr algn="r"/>
            <a:r>
              <a:rPr sz="1100" b="1" i="0">
                <a:solidFill>
                  <a:srgbClr val="2E9E8F"/>
                </a:solidFill>
                <a:latin typeface="Calibri"/>
              </a:rPr>
              <a:t>41.2</a:t>
            </a:r>
          </a:p>
        </p:txBody>
      </p:sp>
      <p:sp>
        <p:nvSpPr>
          <p:cNvPr id="87" name="TextBox 86"/>
          <p:cNvSpPr txBox="1"/>
          <p:nvPr/>
        </p:nvSpPr>
        <p:spPr>
          <a:xfrm>
            <a:off x="9125712"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ρ</a:t>
            </a:r>
          </a:p>
        </p:txBody>
      </p:sp>
      <p:sp>
        <p:nvSpPr>
          <p:cNvPr id="88" name="TextBox 87"/>
          <p:cNvSpPr txBox="1"/>
          <p:nvPr/>
        </p:nvSpPr>
        <p:spPr>
          <a:xfrm>
            <a:off x="9774936"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thru</a:t>
            </a:r>
          </a:p>
        </p:txBody>
      </p:sp>
      <p:sp>
        <p:nvSpPr>
          <p:cNvPr id="89" name="TextBox 88"/>
          <p:cNvSpPr txBox="1"/>
          <p:nvPr/>
        </p:nvSpPr>
        <p:spPr>
          <a:xfrm>
            <a:off x="10424159"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d/pax</a:t>
            </a:r>
          </a:p>
        </p:txBody>
      </p:sp>
      <p:sp>
        <p:nvSpPr>
          <p:cNvPr id="90" name="TextBox 89"/>
          <p:cNvSpPr txBox="1"/>
          <p:nvPr/>
        </p:nvSpPr>
        <p:spPr>
          <a:xfrm>
            <a:off x="11073384" y="3246120"/>
            <a:ext cx="548640" cy="219456"/>
          </a:xfrm>
          <a:prstGeom prst="rect">
            <a:avLst/>
          </a:prstGeom>
          <a:noFill/>
        </p:spPr>
        <p:txBody>
          <a:bodyPr wrap="square" lIns="38100" tIns="25400" rIns="38100" bIns="25400">
            <a:spAutoFit/>
          </a:bodyPr>
          <a:lstStyle/>
          <a:p>
            <a:pPr algn="r"/>
            <a:r>
              <a:rPr sz="850" b="1" i="0">
                <a:solidFill>
                  <a:srgbClr val="6B7280"/>
                </a:solidFill>
                <a:latin typeface="Calibri"/>
              </a:rPr>
              <a:t>p/stop</a:t>
            </a:r>
          </a:p>
        </p:txBody>
      </p:sp>
      <p:sp>
        <p:nvSpPr>
          <p:cNvPr id="91" name="TextBox 90"/>
          <p:cNvSpPr txBox="1"/>
          <p:nvPr/>
        </p:nvSpPr>
        <p:spPr>
          <a:xfrm>
            <a:off x="8284463" y="3465576"/>
            <a:ext cx="868680" cy="292608"/>
          </a:xfrm>
          <a:prstGeom prst="rect">
            <a:avLst/>
          </a:prstGeom>
          <a:noFill/>
        </p:spPr>
        <p:txBody>
          <a:bodyPr wrap="square" lIns="38100" tIns="25400" rIns="38100" bIns="25400" anchor="ctr">
            <a:spAutoFit/>
          </a:bodyPr>
          <a:lstStyle/>
          <a:p>
            <a:r>
              <a:rPr sz="1000" b="0" i="0">
                <a:solidFill>
                  <a:srgbClr val="1F2A44"/>
                </a:solidFill>
                <a:latin typeface="Calibri"/>
              </a:rPr>
              <a:t>round-robin</a:t>
            </a:r>
          </a:p>
        </p:txBody>
      </p:sp>
      <p:sp>
        <p:nvSpPr>
          <p:cNvPr id="92" name="TextBox 91"/>
          <p:cNvSpPr txBox="1"/>
          <p:nvPr/>
        </p:nvSpPr>
        <p:spPr>
          <a:xfrm>
            <a:off x="9125712"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0.98</a:t>
            </a:r>
          </a:p>
        </p:txBody>
      </p:sp>
      <p:sp>
        <p:nvSpPr>
          <p:cNvPr id="93" name="TextBox 92"/>
          <p:cNvSpPr txBox="1"/>
          <p:nvPr/>
        </p:nvSpPr>
        <p:spPr>
          <a:xfrm>
            <a:off x="9774936"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2.74</a:t>
            </a:r>
          </a:p>
        </p:txBody>
      </p:sp>
      <p:sp>
        <p:nvSpPr>
          <p:cNvPr id="94" name="TextBox 93"/>
          <p:cNvSpPr txBox="1"/>
          <p:nvPr/>
        </p:nvSpPr>
        <p:spPr>
          <a:xfrm>
            <a:off x="10424159"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3.00</a:t>
            </a:r>
          </a:p>
        </p:txBody>
      </p:sp>
      <p:sp>
        <p:nvSpPr>
          <p:cNvPr id="95" name="TextBox 94"/>
          <p:cNvSpPr txBox="1"/>
          <p:nvPr/>
        </p:nvSpPr>
        <p:spPr>
          <a:xfrm>
            <a:off x="11073384" y="3465576"/>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0.73</a:t>
            </a:r>
          </a:p>
        </p:txBody>
      </p:sp>
      <p:sp>
        <p:nvSpPr>
          <p:cNvPr id="96" name="Rounded Rectangle 95"/>
          <p:cNvSpPr/>
          <p:nvPr/>
        </p:nvSpPr>
        <p:spPr>
          <a:xfrm>
            <a:off x="8211311" y="3767328"/>
            <a:ext cx="3346704" cy="310896"/>
          </a:xfrm>
          <a:prstGeom prst="roundRect">
            <a:avLst>
              <a:gd name="adj" fmla="val 7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 name="TextBox 96"/>
          <p:cNvSpPr txBox="1"/>
          <p:nvPr/>
        </p:nvSpPr>
        <p:spPr>
          <a:xfrm>
            <a:off x="8284463" y="3785615"/>
            <a:ext cx="868680" cy="292608"/>
          </a:xfrm>
          <a:prstGeom prst="rect">
            <a:avLst/>
          </a:prstGeom>
          <a:noFill/>
        </p:spPr>
        <p:txBody>
          <a:bodyPr wrap="square" lIns="38100" tIns="25400" rIns="38100" bIns="25400" anchor="ctr">
            <a:spAutoFit/>
          </a:bodyPr>
          <a:lstStyle/>
          <a:p>
            <a:r>
              <a:rPr sz="1000" b="1" i="0">
                <a:solidFill>
                  <a:srgbClr val="1E2761"/>
                </a:solidFill>
                <a:latin typeface="Calibri"/>
              </a:rPr>
              <a:t>cost-fn</a:t>
            </a:r>
          </a:p>
        </p:txBody>
      </p:sp>
      <p:sp>
        <p:nvSpPr>
          <p:cNvPr id="98" name="TextBox 97"/>
          <p:cNvSpPr txBox="1"/>
          <p:nvPr/>
        </p:nvSpPr>
        <p:spPr>
          <a:xfrm>
            <a:off x="9125712"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0.93</a:t>
            </a:r>
          </a:p>
        </p:txBody>
      </p:sp>
      <p:sp>
        <p:nvSpPr>
          <p:cNvPr id="99" name="TextBox 98"/>
          <p:cNvSpPr txBox="1"/>
          <p:nvPr/>
        </p:nvSpPr>
        <p:spPr>
          <a:xfrm>
            <a:off x="9774936"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2.73</a:t>
            </a:r>
          </a:p>
        </p:txBody>
      </p:sp>
      <p:sp>
        <p:nvSpPr>
          <p:cNvPr id="100" name="TextBox 99"/>
          <p:cNvSpPr txBox="1"/>
          <p:nvPr/>
        </p:nvSpPr>
        <p:spPr>
          <a:xfrm>
            <a:off x="10424159"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2.73</a:t>
            </a:r>
          </a:p>
        </p:txBody>
      </p:sp>
      <p:sp>
        <p:nvSpPr>
          <p:cNvPr id="101" name="TextBox 100"/>
          <p:cNvSpPr txBox="1"/>
          <p:nvPr/>
        </p:nvSpPr>
        <p:spPr>
          <a:xfrm>
            <a:off x="11073384" y="3785615"/>
            <a:ext cx="548640" cy="292608"/>
          </a:xfrm>
          <a:prstGeom prst="rect">
            <a:avLst/>
          </a:prstGeom>
          <a:noFill/>
        </p:spPr>
        <p:txBody>
          <a:bodyPr wrap="square" lIns="38100" tIns="25400" rIns="38100" bIns="25400" anchor="ctr">
            <a:spAutoFit/>
          </a:bodyPr>
          <a:lstStyle/>
          <a:p>
            <a:pPr algn="r"/>
            <a:r>
              <a:rPr sz="1000" b="0" i="0">
                <a:solidFill>
                  <a:srgbClr val="1F2A44"/>
                </a:solidFill>
                <a:latin typeface="Calibri"/>
              </a:rPr>
              <a:t>0.71</a:t>
            </a:r>
          </a:p>
        </p:txBody>
      </p:sp>
      <p:sp>
        <p:nvSpPr>
          <p:cNvPr id="102" name="Rounded Rectangle 101"/>
          <p:cNvSpPr/>
          <p:nvPr/>
        </p:nvSpPr>
        <p:spPr>
          <a:xfrm>
            <a:off x="8238744" y="4224528"/>
            <a:ext cx="3291840" cy="292608"/>
          </a:xfrm>
          <a:prstGeom prst="roundRect">
            <a:avLst>
              <a:gd name="adj" fmla="val 10000"/>
            </a:avLst>
          </a:prstGeom>
          <a:solidFill>
            <a:srgbClr val="F4F1E8"/>
          </a:solidFill>
          <a:ln w="12700">
            <a:solidFill>
              <a:srgbClr val="E4D9B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3" name="TextBox 102"/>
          <p:cNvSpPr txBox="1"/>
          <p:nvPr/>
        </p:nvSpPr>
        <p:spPr>
          <a:xfrm>
            <a:off x="8238744" y="4224528"/>
            <a:ext cx="3291840" cy="292608"/>
          </a:xfrm>
          <a:prstGeom prst="rect">
            <a:avLst/>
          </a:prstGeom>
          <a:noFill/>
        </p:spPr>
        <p:txBody>
          <a:bodyPr wrap="square" lIns="38100" tIns="25400" rIns="38100" bIns="25400" anchor="ctr">
            <a:spAutoFit/>
          </a:bodyPr>
          <a:lstStyle/>
          <a:p>
            <a:pPr algn="ctr"/>
            <a:r>
              <a:rPr sz="1050" b="1" i="0">
                <a:solidFill>
                  <a:srgbClr val="9A6A12"/>
                </a:solidFill>
                <a:latin typeface="Calibri"/>
              </a:rPr>
              <a:t>Gap 20.2  ·  96% wait</a:t>
            </a:r>
          </a:p>
        </p:txBody>
      </p:sp>
      <p:sp>
        <p:nvSpPr>
          <p:cNvPr id="104" name="Rounded Rectangle 103"/>
          <p:cNvSpPr/>
          <p:nvPr/>
        </p:nvSpPr>
        <p:spPr>
          <a:xfrm>
            <a:off x="457200" y="4791456"/>
            <a:ext cx="11301984" cy="1371600"/>
          </a:xfrm>
          <a:prstGeom prst="roundRect">
            <a:avLst>
              <a:gd name="adj" fmla="val 7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 name="TextBox 104"/>
          <p:cNvSpPr txBox="1"/>
          <p:nvPr/>
        </p:nvSpPr>
        <p:spPr>
          <a:xfrm>
            <a:off x="777240" y="4882896"/>
            <a:ext cx="10698480" cy="457200"/>
          </a:xfrm>
          <a:prstGeom prst="rect">
            <a:avLst/>
          </a:prstGeom>
          <a:noFill/>
        </p:spPr>
        <p:txBody>
          <a:bodyPr wrap="square" lIns="38100" tIns="25400" rIns="38100" bIns="25400">
            <a:spAutoFit/>
          </a:bodyPr>
          <a:lstStyle/>
          <a:p>
            <a:r>
              <a:rPr sz="1400" b="1" i="0">
                <a:solidFill>
                  <a:srgbClr val="F5A623"/>
                </a:solidFill>
                <a:latin typeface="Calibri"/>
              </a:rPr>
              <a:t>The total gap is almost entirely WAIT every time</a:t>
            </a:r>
            <a:r>
              <a:rPr sz="1400" b="0" i="0">
                <a:solidFill>
                  <a:srgbClr val="FFFFFF"/>
                </a:solidFill>
                <a:latin typeface="Calibri"/>
              </a:rPr>
              <a:t>  (100% / 79% / 96%) — the other columns barely move.</a:t>
            </a:r>
          </a:p>
        </p:txBody>
      </p:sp>
      <p:sp>
        <p:nvSpPr>
          <p:cNvPr id="106" name="TextBox 105"/>
          <p:cNvSpPr txBox="1"/>
          <p:nvPr/>
        </p:nvSpPr>
        <p:spPr>
          <a:xfrm>
            <a:off x="777240" y="5376672"/>
            <a:ext cx="10698480" cy="777240"/>
          </a:xfrm>
          <a:prstGeom prst="rect">
            <a:avLst/>
          </a:prstGeom>
          <a:noFill/>
        </p:spPr>
        <p:txBody>
          <a:bodyPr wrap="square" lIns="38100" tIns="25400" rIns="38100" bIns="25400">
            <a:spAutoFit/>
          </a:bodyPr>
          <a:lstStyle/>
          <a:p>
            <a:r>
              <a:rPr sz="1300" b="1" i="0">
                <a:solidFill>
                  <a:srgbClr val="CADCFC"/>
                </a:solidFill>
                <a:latin typeface="Calibri"/>
              </a:rPr>
              <a:t>The bottom table shows why: </a:t>
            </a:r>
            <a:r>
              <a:rPr sz="1300" b="0" i="0">
                <a:solidFill>
                  <a:srgbClr val="FFFFFF"/>
                </a:solidFill>
                <a:latin typeface="Calibri"/>
              </a:rPr>
              <a:t>on up-peak cost-fn’s utilization collapses to ρ 0.76 (every pickup at the lobby → it idles cars) so it loses; on down-peak &amp; uniform it holds ρ 0.88–0.93 and even pools better (d/pax ↓, p/stop ↑), so it wins. Throughput &amp; travel are otherwise a wash — position-aware matching only pays when pickup floors vary.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058400" cy="320040"/>
          </a:xfrm>
          <a:prstGeom prst="rect">
            <a:avLst/>
          </a:prstGeom>
          <a:noFill/>
        </p:spPr>
        <p:txBody>
          <a:bodyPr wrap="square" lIns="38100" tIns="25400" rIns="38100" bIns="25400">
            <a:spAutoFit/>
          </a:bodyPr>
          <a:lstStyle/>
          <a:p>
            <a:r>
              <a:rPr sz="1300" b="1" i="0">
                <a:solidFill>
                  <a:srgbClr val="F5A623"/>
                </a:solidFill>
                <a:latin typeface="Calibri"/>
              </a:rPr>
              <a:t>WHAT I’D EXPLORE NEXT</a:t>
            </a:r>
          </a:p>
        </p:txBody>
      </p:sp>
      <p:sp>
        <p:nvSpPr>
          <p:cNvPr id="3" name="TextBox 2"/>
          <p:cNvSpPr txBox="1"/>
          <p:nvPr/>
        </p:nvSpPr>
        <p:spPr>
          <a:xfrm>
            <a:off x="640080" y="914400"/>
            <a:ext cx="10972800" cy="731520"/>
          </a:xfrm>
          <a:prstGeom prst="rect">
            <a:avLst/>
          </a:prstGeom>
          <a:noFill/>
        </p:spPr>
        <p:txBody>
          <a:bodyPr wrap="square" lIns="38100" tIns="25400" rIns="38100" bIns="25400">
            <a:spAutoFit/>
          </a:bodyPr>
          <a:lstStyle/>
          <a:p>
            <a:r>
              <a:rPr sz="3100" b="1" i="0">
                <a:solidFill>
                  <a:srgbClr val="FFFFFF"/>
                </a:solidFill>
                <a:latin typeface="Cambria"/>
              </a:rPr>
              <a:t>From a working simulator to a decision tool</a:t>
            </a:r>
          </a:p>
        </p:txBody>
      </p:sp>
      <p:sp>
        <p:nvSpPr>
          <p:cNvPr id="4" name="Rounded Rectangle 3"/>
          <p:cNvSpPr/>
          <p:nvPr/>
        </p:nvSpPr>
        <p:spPr>
          <a:xfrm>
            <a:off x="640080" y="1920240"/>
            <a:ext cx="5257800" cy="1874519"/>
          </a:xfrm>
          <a:prstGeom prst="roundRect">
            <a:avLst>
              <a:gd name="adj" fmla="val 6000"/>
            </a:avLst>
          </a:prstGeom>
          <a:solidFill>
            <a:srgbClr val="26315C"/>
          </a:solidFill>
          <a:ln w="12700">
            <a:solidFill>
              <a:srgbClr val="3A47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96112" y="2121408"/>
            <a:ext cx="594360" cy="594360"/>
          </a:xfrm>
          <a:prstGeom prst="rect">
            <a:avLst/>
          </a:prstGeom>
          <a:noFill/>
        </p:spPr>
        <p:txBody>
          <a:bodyPr wrap="square" lIns="38100" tIns="25400" rIns="38100" bIns="25400" anchor="ctr">
            <a:spAutoFit/>
          </a:bodyPr>
          <a:lstStyle/>
          <a:p>
            <a:pPr algn="ctr"/>
            <a:r>
              <a:rPr sz="2400" b="1" i="0">
                <a:solidFill>
                  <a:srgbClr val="F5A623"/>
                </a:solidFill>
                <a:latin typeface="Cambria"/>
              </a:rPr>
              <a:t>1</a:t>
            </a:r>
          </a:p>
        </p:txBody>
      </p:sp>
      <p:sp>
        <p:nvSpPr>
          <p:cNvPr id="6" name="TextBox 5"/>
          <p:cNvSpPr txBox="1"/>
          <p:nvPr/>
        </p:nvSpPr>
        <p:spPr>
          <a:xfrm>
            <a:off x="1508760" y="2157984"/>
            <a:ext cx="4206240" cy="502920"/>
          </a:xfrm>
          <a:prstGeom prst="rect">
            <a:avLst/>
          </a:prstGeom>
          <a:noFill/>
        </p:spPr>
        <p:txBody>
          <a:bodyPr wrap="square" lIns="38100" tIns="25400" rIns="38100" bIns="25400">
            <a:spAutoFit/>
          </a:bodyPr>
          <a:lstStyle/>
          <a:p>
            <a:r>
              <a:rPr sz="1600" b="1" i="0">
                <a:solidFill>
                  <a:srgbClr val="FFFFFF"/>
                </a:solidFill>
                <a:latin typeface="Calibri"/>
              </a:rPr>
              <a:t>Re-dispatch</a:t>
            </a:r>
          </a:p>
        </p:txBody>
      </p:sp>
      <p:sp>
        <p:nvSpPr>
          <p:cNvPr id="7" name="TextBox 6"/>
          <p:cNvSpPr txBox="1"/>
          <p:nvPr/>
        </p:nvSpPr>
        <p:spPr>
          <a:xfrm>
            <a:off x="1508760" y="2651760"/>
            <a:ext cx="4206240" cy="1051560"/>
          </a:xfrm>
          <a:prstGeom prst="rect">
            <a:avLst/>
          </a:prstGeom>
          <a:noFill/>
        </p:spPr>
        <p:txBody>
          <a:bodyPr wrap="square" lIns="38100" tIns="25400" rIns="38100" bIns="25400">
            <a:spAutoFit/>
          </a:bodyPr>
          <a:lstStyle/>
          <a:p>
            <a:r>
              <a:rPr sz="1250" b="0" i="0">
                <a:solidFill>
                  <a:srgbClr val="CADCFC"/>
                </a:solidFill>
                <a:latin typeface="Calibri"/>
              </a:rPr>
              <a:t>Let a long-waiting passenger move to a fresher car — gives aging real teeth and fixes the smart policies’ peak under-utilization.</a:t>
            </a:r>
          </a:p>
        </p:txBody>
      </p:sp>
      <p:sp>
        <p:nvSpPr>
          <p:cNvPr id="8" name="Rounded Rectangle 7"/>
          <p:cNvSpPr/>
          <p:nvPr/>
        </p:nvSpPr>
        <p:spPr>
          <a:xfrm>
            <a:off x="6263640" y="1920240"/>
            <a:ext cx="5257800" cy="1874519"/>
          </a:xfrm>
          <a:prstGeom prst="roundRect">
            <a:avLst>
              <a:gd name="adj" fmla="val 6000"/>
            </a:avLst>
          </a:prstGeom>
          <a:solidFill>
            <a:srgbClr val="26315C"/>
          </a:solidFill>
          <a:ln w="12700">
            <a:solidFill>
              <a:srgbClr val="3A47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519672" y="2121408"/>
            <a:ext cx="594360" cy="594360"/>
          </a:xfrm>
          <a:prstGeom prst="rect">
            <a:avLst/>
          </a:prstGeom>
          <a:noFill/>
        </p:spPr>
        <p:txBody>
          <a:bodyPr wrap="square" lIns="38100" tIns="25400" rIns="38100" bIns="25400" anchor="ctr">
            <a:spAutoFit/>
          </a:bodyPr>
          <a:lstStyle/>
          <a:p>
            <a:pPr algn="ctr"/>
            <a:r>
              <a:rPr sz="2400" b="1" i="0">
                <a:solidFill>
                  <a:srgbClr val="F5A623"/>
                </a:solidFill>
                <a:latin typeface="Cambria"/>
              </a:rPr>
              <a:t>2</a:t>
            </a:r>
          </a:p>
        </p:txBody>
      </p:sp>
      <p:sp>
        <p:nvSpPr>
          <p:cNvPr id="10" name="TextBox 9"/>
          <p:cNvSpPr txBox="1"/>
          <p:nvPr/>
        </p:nvSpPr>
        <p:spPr>
          <a:xfrm>
            <a:off x="7132320" y="2157984"/>
            <a:ext cx="4206240" cy="502920"/>
          </a:xfrm>
          <a:prstGeom prst="rect">
            <a:avLst/>
          </a:prstGeom>
          <a:noFill/>
        </p:spPr>
        <p:txBody>
          <a:bodyPr wrap="square" lIns="38100" tIns="25400" rIns="38100" bIns="25400">
            <a:spAutoFit/>
          </a:bodyPr>
          <a:lstStyle/>
          <a:p>
            <a:r>
              <a:rPr sz="1600" b="1" i="0">
                <a:solidFill>
                  <a:srgbClr val="FFFFFF"/>
                </a:solidFill>
                <a:latin typeface="Calibri"/>
              </a:rPr>
              <a:t>Adaptive batching / up-peak mode</a:t>
            </a:r>
          </a:p>
        </p:txBody>
      </p:sp>
      <p:sp>
        <p:nvSpPr>
          <p:cNvPr id="11" name="TextBox 10"/>
          <p:cNvSpPr txBox="1"/>
          <p:nvPr/>
        </p:nvSpPr>
        <p:spPr>
          <a:xfrm>
            <a:off x="7132320" y="2651760"/>
            <a:ext cx="4206240" cy="1051560"/>
          </a:xfrm>
          <a:prstGeom prst="rect">
            <a:avLst/>
          </a:prstGeom>
          <a:noFill/>
        </p:spPr>
        <p:txBody>
          <a:bodyPr wrap="square" lIns="38100" tIns="25400" rIns="38100" bIns="25400">
            <a:spAutoFit/>
          </a:bodyPr>
          <a:lstStyle/>
          <a:p>
            <a:r>
              <a:rPr sz="1250" b="0" i="0">
                <a:solidFill>
                  <a:srgbClr val="CADCFC"/>
                </a:solidFill>
                <a:latin typeface="Calibri"/>
              </a:rPr>
              <a:t>Deliberately pool more riders per car under heavy load, the way real buildings switch modes.</a:t>
            </a:r>
          </a:p>
        </p:txBody>
      </p:sp>
      <p:sp>
        <p:nvSpPr>
          <p:cNvPr id="12" name="Rounded Rectangle 11"/>
          <p:cNvSpPr/>
          <p:nvPr/>
        </p:nvSpPr>
        <p:spPr>
          <a:xfrm>
            <a:off x="640080" y="4069080"/>
            <a:ext cx="5257800" cy="1874519"/>
          </a:xfrm>
          <a:prstGeom prst="roundRect">
            <a:avLst>
              <a:gd name="adj" fmla="val 6000"/>
            </a:avLst>
          </a:prstGeom>
          <a:solidFill>
            <a:srgbClr val="26315C"/>
          </a:solidFill>
          <a:ln w="12700">
            <a:solidFill>
              <a:srgbClr val="3A47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96112" y="4270248"/>
            <a:ext cx="594360" cy="594360"/>
          </a:xfrm>
          <a:prstGeom prst="rect">
            <a:avLst/>
          </a:prstGeom>
          <a:noFill/>
        </p:spPr>
        <p:txBody>
          <a:bodyPr wrap="square" lIns="38100" tIns="25400" rIns="38100" bIns="25400" anchor="ctr">
            <a:spAutoFit/>
          </a:bodyPr>
          <a:lstStyle/>
          <a:p>
            <a:pPr algn="ctr"/>
            <a:r>
              <a:rPr sz="2400" b="1" i="0">
                <a:solidFill>
                  <a:srgbClr val="F5A623"/>
                </a:solidFill>
                <a:latin typeface="Cambria"/>
              </a:rPr>
              <a:t>3</a:t>
            </a:r>
          </a:p>
        </p:txBody>
      </p:sp>
      <p:sp>
        <p:nvSpPr>
          <p:cNvPr id="14" name="TextBox 13"/>
          <p:cNvSpPr txBox="1"/>
          <p:nvPr/>
        </p:nvSpPr>
        <p:spPr>
          <a:xfrm>
            <a:off x="1508760" y="4306824"/>
            <a:ext cx="4206240" cy="502920"/>
          </a:xfrm>
          <a:prstGeom prst="rect">
            <a:avLst/>
          </a:prstGeom>
          <a:noFill/>
        </p:spPr>
        <p:txBody>
          <a:bodyPr wrap="square" lIns="38100" tIns="25400" rIns="38100" bIns="25400">
            <a:spAutoFit/>
          </a:bodyPr>
          <a:lstStyle/>
          <a:p>
            <a:r>
              <a:rPr sz="1600" b="1" i="0">
                <a:solidFill>
                  <a:srgbClr val="FFFFFF"/>
                </a:solidFill>
                <a:latin typeface="Calibri"/>
              </a:rPr>
              <a:t>Per-pattern weight tuning</a:t>
            </a:r>
          </a:p>
        </p:txBody>
      </p:sp>
      <p:sp>
        <p:nvSpPr>
          <p:cNvPr id="15" name="TextBox 14"/>
          <p:cNvSpPr txBox="1"/>
          <p:nvPr/>
        </p:nvSpPr>
        <p:spPr>
          <a:xfrm>
            <a:off x="1508760" y="4800600"/>
            <a:ext cx="4206240" cy="1051560"/>
          </a:xfrm>
          <a:prstGeom prst="rect">
            <a:avLst/>
          </a:prstGeom>
          <a:noFill/>
        </p:spPr>
        <p:txBody>
          <a:bodyPr wrap="square" lIns="38100" tIns="25400" rIns="38100" bIns="25400">
            <a:spAutoFit/>
          </a:bodyPr>
          <a:lstStyle/>
          <a:p>
            <a:r>
              <a:rPr sz="1250" b="0" i="0">
                <a:solidFill>
                  <a:srgbClr val="CADCFC"/>
                </a:solidFill>
                <a:latin typeface="Calibri"/>
              </a:rPr>
              <a:t>Grid-search the cost-function weights against the metrics for each traffic pattern.</a:t>
            </a:r>
          </a:p>
        </p:txBody>
      </p:sp>
      <p:sp>
        <p:nvSpPr>
          <p:cNvPr id="16" name="Rounded Rectangle 15"/>
          <p:cNvSpPr/>
          <p:nvPr/>
        </p:nvSpPr>
        <p:spPr>
          <a:xfrm>
            <a:off x="6263640" y="4069080"/>
            <a:ext cx="5257800" cy="1874519"/>
          </a:xfrm>
          <a:prstGeom prst="roundRect">
            <a:avLst>
              <a:gd name="adj" fmla="val 6000"/>
            </a:avLst>
          </a:prstGeom>
          <a:solidFill>
            <a:srgbClr val="26315C"/>
          </a:solidFill>
          <a:ln w="12700">
            <a:solidFill>
              <a:srgbClr val="3A477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19672" y="4270248"/>
            <a:ext cx="594360" cy="594360"/>
          </a:xfrm>
          <a:prstGeom prst="rect">
            <a:avLst/>
          </a:prstGeom>
          <a:noFill/>
        </p:spPr>
        <p:txBody>
          <a:bodyPr wrap="square" lIns="38100" tIns="25400" rIns="38100" bIns="25400" anchor="ctr">
            <a:spAutoFit/>
          </a:bodyPr>
          <a:lstStyle/>
          <a:p>
            <a:pPr algn="ctr"/>
            <a:r>
              <a:rPr sz="2400" b="1" i="0">
                <a:solidFill>
                  <a:srgbClr val="F5A623"/>
                </a:solidFill>
                <a:latin typeface="Cambria"/>
              </a:rPr>
              <a:t>4</a:t>
            </a:r>
          </a:p>
        </p:txBody>
      </p:sp>
      <p:sp>
        <p:nvSpPr>
          <p:cNvPr id="18" name="TextBox 17"/>
          <p:cNvSpPr txBox="1"/>
          <p:nvPr/>
        </p:nvSpPr>
        <p:spPr>
          <a:xfrm>
            <a:off x="7132320" y="4306824"/>
            <a:ext cx="4206240" cy="502920"/>
          </a:xfrm>
          <a:prstGeom prst="rect">
            <a:avLst/>
          </a:prstGeom>
          <a:noFill/>
        </p:spPr>
        <p:txBody>
          <a:bodyPr wrap="square" lIns="38100" tIns="25400" rIns="38100" bIns="25400">
            <a:spAutoFit/>
          </a:bodyPr>
          <a:lstStyle/>
          <a:p>
            <a:r>
              <a:rPr sz="1600" b="1" i="0">
                <a:solidFill>
                  <a:srgbClr val="FFFFFF"/>
                </a:solidFill>
                <a:latin typeface="Calibri"/>
              </a:rPr>
              <a:t>Error bars &amp; λ-sweep</a:t>
            </a:r>
          </a:p>
        </p:txBody>
      </p:sp>
      <p:sp>
        <p:nvSpPr>
          <p:cNvPr id="19" name="TextBox 18"/>
          <p:cNvSpPr txBox="1"/>
          <p:nvPr/>
        </p:nvSpPr>
        <p:spPr>
          <a:xfrm>
            <a:off x="7132320" y="4800600"/>
            <a:ext cx="4206240" cy="1051560"/>
          </a:xfrm>
          <a:prstGeom prst="rect">
            <a:avLst/>
          </a:prstGeom>
          <a:noFill/>
        </p:spPr>
        <p:txBody>
          <a:bodyPr wrap="square" lIns="38100" tIns="25400" rIns="38100" bIns="25400">
            <a:spAutoFit/>
          </a:bodyPr>
          <a:lstStyle/>
          <a:p>
            <a:r>
              <a:rPr sz="1250" b="0" i="0">
                <a:solidFill>
                  <a:srgbClr val="CADCFC"/>
                </a:solidFill>
                <a:latin typeface="Calibri"/>
              </a:rPr>
              <a:t>The 100-seed grid reports means only. Add per-metric SE / confidence intervals across seeds, then sweep λ to trace the utilization cliff (1/(1−ρ)).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3448</Words>
  <Application>Microsoft Office PowerPoint</Application>
  <PresentationFormat>Widescreen</PresentationFormat>
  <Paragraphs>345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Renyuan Zhang</cp:lastModifiedBy>
  <cp:revision>1</cp:revision>
  <dcterms:created xsi:type="dcterms:W3CDTF">2013-01-27T09:14:16Z</dcterms:created>
  <dcterms:modified xsi:type="dcterms:W3CDTF">2026-08-08T05:59:19Z</dcterms:modified>
  <cp:category/>
</cp:coreProperties>
</file>